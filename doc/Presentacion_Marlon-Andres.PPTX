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272" r:id="rId3"/>
    <p:sldId id="258" r:id="rId4"/>
    <p:sldId id="273" r:id="rId5"/>
    <p:sldId id="274" r:id="rId6"/>
    <p:sldId id="276" r:id="rId7"/>
    <p:sldId id="277" r:id="rId8"/>
    <p:sldId id="278" r:id="rId9"/>
    <p:sldId id="275" r:id="rId10"/>
    <p:sldId id="280" r:id="rId11"/>
    <p:sldId id="281" r:id="rId12"/>
    <p:sldId id="283" r:id="rId13"/>
    <p:sldId id="285" r:id="rId14"/>
    <p:sldId id="284" r:id="rId15"/>
    <p:sldId id="286" r:id="rId16"/>
    <p:sldId id="287" r:id="rId17"/>
    <p:sldId id="289" r:id="rId18"/>
    <p:sldId id="290" r:id="rId19"/>
    <p:sldId id="293" r:id="rId20"/>
    <p:sldId id="294" r:id="rId21"/>
    <p:sldId id="295" r:id="rId22"/>
    <p:sldId id="296" r:id="rId23"/>
    <p:sldId id="288" r:id="rId24"/>
  </p:sldIdLst>
  <p:sldSz cx="24382413" cy="13716000"/>
  <p:notesSz cx="6858000" cy="9144000"/>
  <p:defaultTextStyle>
    <a:defPPr>
      <a:defRPr lang="es-ES_tradnl"/>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ACD9"/>
    <a:srgbClr val="173557"/>
    <a:srgbClr val="2DABD8"/>
    <a:srgbClr val="1736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732" autoAdjust="0"/>
  </p:normalViewPr>
  <p:slideViewPr>
    <p:cSldViewPr snapToGrid="0" snapToObjects="1">
      <p:cViewPr varScale="1">
        <p:scale>
          <a:sx n="41" d="100"/>
          <a:sy n="41" d="100"/>
        </p:scale>
        <p:origin x="16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00391E-5383-C34D-900B-25999BBE87A5}" type="datetimeFigureOut">
              <a:rPr lang="es-ES_tradnl" smtClean="0"/>
              <a:t>21/01/2021</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4E957-F8F8-984B-94DC-E93DA1F8723F}" type="slidenum">
              <a:rPr lang="es-ES_tradnl" smtClean="0"/>
              <a:t>‹Nº›</a:t>
            </a:fld>
            <a:endParaRPr lang="es-ES_tradnl"/>
          </a:p>
        </p:txBody>
      </p:sp>
    </p:spTree>
    <p:extLst>
      <p:ext uri="{BB962C8B-B14F-4D97-AF65-F5344CB8AC3E}">
        <p14:creationId xmlns:p14="http://schemas.microsoft.com/office/powerpoint/2010/main" val="2013427889"/>
      </p:ext>
    </p:extLst>
  </p:cSld>
  <p:clrMap bg1="lt1" tx1="dk1" bg2="lt2" tx2="dk2" accent1="accent1" accent2="accent2" accent3="accent3" accent4="accent4" accent5="accent5" accent6="accent6" hlink="hlink" folHlink="folHlink"/>
  <p:notesStyle>
    <a:lvl1pPr marL="0" algn="l" defTabSz="1828709" rtl="0" eaLnBrk="1" latinLnBrk="0" hangingPunct="1">
      <a:defRPr sz="2400" kern="1200">
        <a:solidFill>
          <a:schemeClr val="tx1"/>
        </a:solidFill>
        <a:latin typeface="+mn-lt"/>
        <a:ea typeface="+mn-ea"/>
        <a:cs typeface="+mn-cs"/>
      </a:defRPr>
    </a:lvl1pPr>
    <a:lvl2pPr marL="914354" algn="l" defTabSz="1828709" rtl="0" eaLnBrk="1" latinLnBrk="0" hangingPunct="1">
      <a:defRPr sz="2400" kern="1200">
        <a:solidFill>
          <a:schemeClr val="tx1"/>
        </a:solidFill>
        <a:latin typeface="+mn-lt"/>
        <a:ea typeface="+mn-ea"/>
        <a:cs typeface="+mn-cs"/>
      </a:defRPr>
    </a:lvl2pPr>
    <a:lvl3pPr marL="1828709" algn="l" defTabSz="1828709" rtl="0" eaLnBrk="1" latinLnBrk="0" hangingPunct="1">
      <a:defRPr sz="2400" kern="1200">
        <a:solidFill>
          <a:schemeClr val="tx1"/>
        </a:solidFill>
        <a:latin typeface="+mn-lt"/>
        <a:ea typeface="+mn-ea"/>
        <a:cs typeface="+mn-cs"/>
      </a:defRPr>
    </a:lvl3pPr>
    <a:lvl4pPr marL="2743063" algn="l" defTabSz="1828709" rtl="0" eaLnBrk="1" latinLnBrk="0" hangingPunct="1">
      <a:defRPr sz="2400" kern="1200">
        <a:solidFill>
          <a:schemeClr val="tx1"/>
        </a:solidFill>
        <a:latin typeface="+mn-lt"/>
        <a:ea typeface="+mn-ea"/>
        <a:cs typeface="+mn-cs"/>
      </a:defRPr>
    </a:lvl4pPr>
    <a:lvl5pPr marL="3657417" algn="l" defTabSz="1828709" rtl="0" eaLnBrk="1" latinLnBrk="0" hangingPunct="1">
      <a:defRPr sz="2400" kern="1200">
        <a:solidFill>
          <a:schemeClr val="tx1"/>
        </a:solidFill>
        <a:latin typeface="+mn-lt"/>
        <a:ea typeface="+mn-ea"/>
        <a:cs typeface="+mn-cs"/>
      </a:defRPr>
    </a:lvl5pPr>
    <a:lvl6pPr marL="4571771" algn="l" defTabSz="1828709" rtl="0" eaLnBrk="1" latinLnBrk="0" hangingPunct="1">
      <a:defRPr sz="2400" kern="1200">
        <a:solidFill>
          <a:schemeClr val="tx1"/>
        </a:solidFill>
        <a:latin typeface="+mn-lt"/>
        <a:ea typeface="+mn-ea"/>
        <a:cs typeface="+mn-cs"/>
      </a:defRPr>
    </a:lvl6pPr>
    <a:lvl7pPr marL="5486126" algn="l" defTabSz="1828709" rtl="0" eaLnBrk="1" latinLnBrk="0" hangingPunct="1">
      <a:defRPr sz="2400" kern="1200">
        <a:solidFill>
          <a:schemeClr val="tx1"/>
        </a:solidFill>
        <a:latin typeface="+mn-lt"/>
        <a:ea typeface="+mn-ea"/>
        <a:cs typeface="+mn-cs"/>
      </a:defRPr>
    </a:lvl7pPr>
    <a:lvl8pPr marL="6400480" algn="l" defTabSz="1828709" rtl="0" eaLnBrk="1" latinLnBrk="0" hangingPunct="1">
      <a:defRPr sz="2400" kern="1200">
        <a:solidFill>
          <a:schemeClr val="tx1"/>
        </a:solidFill>
        <a:latin typeface="+mn-lt"/>
        <a:ea typeface="+mn-ea"/>
        <a:cs typeface="+mn-cs"/>
      </a:defRPr>
    </a:lvl8pPr>
    <a:lvl9pPr marL="7314834" algn="l" defTabSz="1828709"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Decidimos tomar la ruta del marco de trabajo para desarrollo ágil Scrum para el proyecto</a:t>
            </a:r>
          </a:p>
          <a:p>
            <a:endParaRPr lang="es-MX" dirty="0"/>
          </a:p>
          <a:p>
            <a:r>
              <a:rPr lang="es-MX" dirty="0"/>
              <a:t>Dividiendo el proyecto en las fases…</a:t>
            </a:r>
            <a:endParaRPr lang="es-CO" dirty="0"/>
          </a:p>
        </p:txBody>
      </p:sp>
      <p:sp>
        <p:nvSpPr>
          <p:cNvPr id="4" name="Marcador de número de diapositiva 3"/>
          <p:cNvSpPr>
            <a:spLocks noGrp="1"/>
          </p:cNvSpPr>
          <p:nvPr>
            <p:ph type="sldNum" sz="quarter" idx="5"/>
          </p:nvPr>
        </p:nvSpPr>
        <p:spPr/>
        <p:txBody>
          <a:bodyPr/>
          <a:lstStyle/>
          <a:p>
            <a:fld id="{13A4E957-F8F8-984B-94DC-E93DA1F8723F}" type="slidenum">
              <a:rPr lang="es-ES_tradnl" smtClean="0"/>
              <a:t>10</a:t>
            </a:fld>
            <a:endParaRPr lang="es-ES_tradnl"/>
          </a:p>
        </p:txBody>
      </p:sp>
    </p:spTree>
    <p:extLst>
      <p:ext uri="{BB962C8B-B14F-4D97-AF65-F5344CB8AC3E}">
        <p14:creationId xmlns:p14="http://schemas.microsoft.com/office/powerpoint/2010/main" val="3679192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Sistemas de gestión de aprendizaje (LMS)</a:t>
            </a:r>
          </a:p>
          <a:p>
            <a:endParaRPr lang="es-MX" dirty="0"/>
          </a:p>
          <a:p>
            <a:r>
              <a:rPr lang="es-MX" dirty="0"/>
              <a:t>Google </a:t>
            </a:r>
            <a:r>
              <a:rPr lang="es-MX" dirty="0" err="1"/>
              <a:t>Classroom</a:t>
            </a:r>
            <a:r>
              <a:rPr lang="es-MX" dirty="0"/>
              <a:t>, Microsoft </a:t>
            </a:r>
            <a:r>
              <a:rPr lang="es-MX" dirty="0" err="1"/>
              <a:t>Teams</a:t>
            </a:r>
            <a:r>
              <a:rPr lang="es-MX" dirty="0"/>
              <a:t>. Básico para educación para todos los niveles</a:t>
            </a:r>
          </a:p>
          <a:p>
            <a:endParaRPr lang="es-MX" dirty="0"/>
          </a:p>
          <a:p>
            <a:r>
              <a:rPr lang="es-MX" dirty="0"/>
              <a:t> Moodle, </a:t>
            </a:r>
            <a:r>
              <a:rPr lang="es-MX" dirty="0" err="1"/>
              <a:t>Canvas</a:t>
            </a:r>
            <a:r>
              <a:rPr lang="es-MX" dirty="0"/>
              <a:t>. Herramientas de la universidad, no son ideales para la calificación de código fuente </a:t>
            </a:r>
          </a:p>
          <a:p>
            <a:endParaRPr lang="es-MX" dirty="0"/>
          </a:p>
          <a:p>
            <a:endParaRPr lang="es-MX" dirty="0"/>
          </a:p>
          <a:p>
            <a:r>
              <a:rPr lang="es-MX" dirty="0"/>
              <a:t>Plataformas que usa la comunidad de programación competitiva.</a:t>
            </a:r>
          </a:p>
          <a:p>
            <a:endParaRPr lang="es-MX" dirty="0"/>
          </a:p>
          <a:p>
            <a:r>
              <a:rPr lang="es-MX" dirty="0" err="1"/>
              <a:t>CodeForces</a:t>
            </a:r>
            <a:r>
              <a:rPr lang="es-MX" dirty="0"/>
              <a:t>, </a:t>
            </a:r>
            <a:r>
              <a:rPr lang="es-MX" dirty="0" err="1"/>
              <a:t>Vjudge</a:t>
            </a:r>
            <a:r>
              <a:rPr lang="es-MX" dirty="0"/>
              <a:t>, plataformas de competencias cuentan con gran repositorio de problemas. no enfocadas a la educación.</a:t>
            </a:r>
          </a:p>
          <a:p>
            <a:endParaRPr lang="es-MX" dirty="0"/>
          </a:p>
          <a:p>
            <a:r>
              <a:rPr lang="es-MX" dirty="0" err="1"/>
              <a:t>Geeks</a:t>
            </a:r>
            <a:r>
              <a:rPr lang="es-MX" dirty="0"/>
              <a:t> </a:t>
            </a:r>
            <a:r>
              <a:rPr lang="es-MX" dirty="0" err="1"/>
              <a:t>for</a:t>
            </a:r>
            <a:r>
              <a:rPr lang="es-MX" dirty="0"/>
              <a:t> </a:t>
            </a:r>
            <a:r>
              <a:rPr lang="es-MX" dirty="0" err="1"/>
              <a:t>Geeks</a:t>
            </a:r>
            <a:r>
              <a:rPr lang="es-MX" dirty="0"/>
              <a:t>, una gran variedad de temas tratados pero con poco orden y sin ningún formato entre artículos.</a:t>
            </a:r>
          </a:p>
          <a:p>
            <a:endParaRPr lang="es-MX" dirty="0"/>
          </a:p>
          <a:p>
            <a:r>
              <a:rPr lang="es-MX" dirty="0" err="1"/>
              <a:t>Topcoder</a:t>
            </a:r>
            <a:r>
              <a:rPr lang="es-MX" dirty="0"/>
              <a:t>, </a:t>
            </a:r>
            <a:r>
              <a:rPr lang="es-MX" dirty="0" err="1"/>
              <a:t>Leetcode</a:t>
            </a:r>
            <a:r>
              <a:rPr lang="es-MX" dirty="0"/>
              <a:t>, temas educativos, enfocados a las entrevistas de reclutamiento, con muy buen formato.</a:t>
            </a:r>
          </a:p>
          <a:p>
            <a:endParaRPr lang="es-MX" dirty="0"/>
          </a:p>
        </p:txBody>
      </p:sp>
      <p:sp>
        <p:nvSpPr>
          <p:cNvPr id="4" name="Marcador de número de diapositiva 3"/>
          <p:cNvSpPr>
            <a:spLocks noGrp="1"/>
          </p:cNvSpPr>
          <p:nvPr>
            <p:ph type="sldNum" sz="quarter" idx="5"/>
          </p:nvPr>
        </p:nvSpPr>
        <p:spPr/>
        <p:txBody>
          <a:bodyPr/>
          <a:lstStyle/>
          <a:p>
            <a:fld id="{13A4E957-F8F8-984B-94DC-E93DA1F8723F}" type="slidenum">
              <a:rPr lang="es-ES_tradnl" smtClean="0"/>
              <a:t>11</a:t>
            </a:fld>
            <a:endParaRPr lang="es-ES_tradnl"/>
          </a:p>
        </p:txBody>
      </p:sp>
    </p:spTree>
    <p:extLst>
      <p:ext uri="{BB962C8B-B14F-4D97-AF65-F5344CB8AC3E}">
        <p14:creationId xmlns:p14="http://schemas.microsoft.com/office/powerpoint/2010/main" val="3856683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3A4E957-F8F8-984B-94DC-E93DA1F8723F}" type="slidenum">
              <a:rPr lang="es-ES_tradnl" smtClean="0"/>
              <a:t>12</a:t>
            </a:fld>
            <a:endParaRPr lang="es-ES_tradnl"/>
          </a:p>
        </p:txBody>
      </p:sp>
    </p:spTree>
    <p:extLst>
      <p:ext uri="{BB962C8B-B14F-4D97-AF65-F5344CB8AC3E}">
        <p14:creationId xmlns:p14="http://schemas.microsoft.com/office/powerpoint/2010/main" val="2454479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Para la base de datos decidimos</a:t>
            </a:r>
          </a:p>
          <a:p>
            <a:endParaRPr lang="es-MX" dirty="0"/>
          </a:p>
          <a:p>
            <a:r>
              <a:rPr lang="es-MX" dirty="0"/>
              <a:t>Modelo de datos relacional</a:t>
            </a:r>
          </a:p>
          <a:p>
            <a:endParaRPr lang="es-MX" dirty="0"/>
          </a:p>
          <a:p>
            <a:r>
              <a:rPr lang="es-MX" dirty="0"/>
              <a:t>Núcleos grandes: Cursos, Competencias,, Problemas y </a:t>
            </a:r>
            <a:r>
              <a:rPr lang="es-MX" dirty="0" err="1"/>
              <a:t>Articulos</a:t>
            </a:r>
            <a:endParaRPr lang="es-MX" dirty="0"/>
          </a:p>
          <a:p>
            <a:endParaRPr lang="es-CO" dirty="0"/>
          </a:p>
        </p:txBody>
      </p:sp>
      <p:sp>
        <p:nvSpPr>
          <p:cNvPr id="4" name="Marcador de número de diapositiva 3"/>
          <p:cNvSpPr>
            <a:spLocks noGrp="1"/>
          </p:cNvSpPr>
          <p:nvPr>
            <p:ph type="sldNum" sz="quarter" idx="5"/>
          </p:nvPr>
        </p:nvSpPr>
        <p:spPr/>
        <p:txBody>
          <a:bodyPr/>
          <a:lstStyle/>
          <a:p>
            <a:fld id="{13A4E957-F8F8-984B-94DC-E93DA1F8723F}" type="slidenum">
              <a:rPr lang="es-ES_tradnl" smtClean="0"/>
              <a:t>13</a:t>
            </a:fld>
            <a:endParaRPr lang="es-ES_tradnl"/>
          </a:p>
        </p:txBody>
      </p:sp>
    </p:spTree>
    <p:extLst>
      <p:ext uri="{BB962C8B-B14F-4D97-AF65-F5344CB8AC3E}">
        <p14:creationId xmlns:p14="http://schemas.microsoft.com/office/powerpoint/2010/main" val="1816064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Arquitectura por Capas con el </a:t>
            </a:r>
            <a:r>
              <a:rPr lang="es-MX" dirty="0" err="1"/>
              <a:t>patron</a:t>
            </a:r>
            <a:r>
              <a:rPr lang="es-MX" dirty="0"/>
              <a:t> de modelo vista controlador.</a:t>
            </a:r>
          </a:p>
          <a:p>
            <a:endParaRPr lang="es-MX" dirty="0"/>
          </a:p>
          <a:p>
            <a:r>
              <a:rPr lang="es-MX" dirty="0" err="1"/>
              <a:t>Frontend</a:t>
            </a:r>
            <a:r>
              <a:rPr lang="es-MX" dirty="0"/>
              <a:t>, Angular </a:t>
            </a:r>
            <a:r>
              <a:rPr lang="es-MX" dirty="0" err="1"/>
              <a:t>plugins</a:t>
            </a:r>
            <a:r>
              <a:rPr lang="es-MX" dirty="0"/>
              <a:t> </a:t>
            </a:r>
            <a:r>
              <a:rPr lang="es-MX" dirty="0" err="1"/>
              <a:t>markdown</a:t>
            </a:r>
            <a:r>
              <a:rPr lang="es-MX" dirty="0"/>
              <a:t> </a:t>
            </a:r>
            <a:r>
              <a:rPr lang="es-MX" dirty="0" err="1"/>
              <a:t>Latex</a:t>
            </a:r>
            <a:endParaRPr lang="es-MX" dirty="0"/>
          </a:p>
          <a:p>
            <a:endParaRPr lang="es-MX" dirty="0"/>
          </a:p>
          <a:p>
            <a:r>
              <a:rPr lang="es-MX" dirty="0" err="1"/>
              <a:t>Backend</a:t>
            </a:r>
            <a:r>
              <a:rPr lang="es-MX" dirty="0"/>
              <a:t>, Spring para la creación de servicios, plugin </a:t>
            </a:r>
            <a:r>
              <a:rPr lang="es-MX" dirty="0" err="1"/>
              <a:t>hibernate</a:t>
            </a:r>
            <a:r>
              <a:rPr lang="es-MX" dirty="0"/>
              <a:t> que nos permite hacer todo el modelo relacional a partir de objetos creados en </a:t>
            </a:r>
            <a:r>
              <a:rPr lang="es-MX" dirty="0" err="1"/>
              <a:t>spring</a:t>
            </a:r>
            <a:endParaRPr lang="es-MX" dirty="0"/>
          </a:p>
          <a:p>
            <a:endParaRPr lang="es-MX" dirty="0"/>
          </a:p>
          <a:p>
            <a:r>
              <a:rPr lang="es-MX" dirty="0" err="1"/>
              <a:t>Mysql</a:t>
            </a:r>
            <a:r>
              <a:rPr lang="es-MX" dirty="0"/>
              <a:t>, Base de datos tradicional para un modelo relacional.</a:t>
            </a:r>
          </a:p>
          <a:p>
            <a:endParaRPr lang="es-MX" dirty="0"/>
          </a:p>
          <a:p>
            <a:endParaRPr lang="es-MX" dirty="0"/>
          </a:p>
          <a:p>
            <a:endParaRPr lang="es-CO" dirty="0"/>
          </a:p>
        </p:txBody>
      </p:sp>
      <p:sp>
        <p:nvSpPr>
          <p:cNvPr id="4" name="Marcador de número de diapositiva 3"/>
          <p:cNvSpPr>
            <a:spLocks noGrp="1"/>
          </p:cNvSpPr>
          <p:nvPr>
            <p:ph type="sldNum" sz="quarter" idx="5"/>
          </p:nvPr>
        </p:nvSpPr>
        <p:spPr/>
        <p:txBody>
          <a:bodyPr/>
          <a:lstStyle/>
          <a:p>
            <a:fld id="{13A4E957-F8F8-984B-94DC-E93DA1F8723F}" type="slidenum">
              <a:rPr lang="es-ES_tradnl" smtClean="0"/>
              <a:t>14</a:t>
            </a:fld>
            <a:endParaRPr lang="es-ES_tradnl"/>
          </a:p>
        </p:txBody>
      </p:sp>
    </p:spTree>
    <p:extLst>
      <p:ext uri="{BB962C8B-B14F-4D97-AF65-F5344CB8AC3E}">
        <p14:creationId xmlns:p14="http://schemas.microsoft.com/office/powerpoint/2010/main" val="1048826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err="1"/>
              <a:t>Postman</a:t>
            </a:r>
            <a:r>
              <a:rPr lang="es-MX" dirty="0"/>
              <a:t>, pruebas de servicios API REST</a:t>
            </a:r>
          </a:p>
          <a:p>
            <a:endParaRPr lang="es-MX" dirty="0"/>
          </a:p>
          <a:p>
            <a:r>
              <a:rPr lang="es-MX" dirty="0"/>
              <a:t>Para simular un ambiente en producción y demostrar el desarrollo por capas</a:t>
            </a:r>
            <a:endParaRPr lang="es-CO" dirty="0"/>
          </a:p>
        </p:txBody>
      </p:sp>
      <p:sp>
        <p:nvSpPr>
          <p:cNvPr id="4" name="Marcador de número de diapositiva 3"/>
          <p:cNvSpPr>
            <a:spLocks noGrp="1"/>
          </p:cNvSpPr>
          <p:nvPr>
            <p:ph type="sldNum" sz="quarter" idx="5"/>
          </p:nvPr>
        </p:nvSpPr>
        <p:spPr/>
        <p:txBody>
          <a:bodyPr/>
          <a:lstStyle/>
          <a:p>
            <a:fld id="{13A4E957-F8F8-984B-94DC-E93DA1F8723F}" type="slidenum">
              <a:rPr lang="es-ES_tradnl" smtClean="0"/>
              <a:t>15</a:t>
            </a:fld>
            <a:endParaRPr lang="es-ES_tradnl"/>
          </a:p>
        </p:txBody>
      </p:sp>
    </p:spTree>
    <p:extLst>
      <p:ext uri="{BB962C8B-B14F-4D97-AF65-F5344CB8AC3E}">
        <p14:creationId xmlns:p14="http://schemas.microsoft.com/office/powerpoint/2010/main" val="3670286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3A4E957-F8F8-984B-94DC-E93DA1F8723F}" type="slidenum">
              <a:rPr lang="es-ES_tradnl" smtClean="0"/>
              <a:t>18</a:t>
            </a:fld>
            <a:endParaRPr lang="es-ES_tradnl"/>
          </a:p>
        </p:txBody>
      </p:sp>
    </p:spTree>
    <p:extLst>
      <p:ext uri="{BB962C8B-B14F-4D97-AF65-F5344CB8AC3E}">
        <p14:creationId xmlns:p14="http://schemas.microsoft.com/office/powerpoint/2010/main" val="2783509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3047802" y="2244726"/>
            <a:ext cx="18286810" cy="4775200"/>
          </a:xfrm>
        </p:spPr>
        <p:txBody>
          <a:bodyPr anchor="b"/>
          <a:lstStyle>
            <a:lvl1pPr algn="ctr">
              <a:defRPr sz="11999"/>
            </a:lvl1pPr>
          </a:lstStyle>
          <a:p>
            <a:r>
              <a:rPr lang="es-ES_tradnl"/>
              <a:t>Haga clic para modificar el estilo de título del patrón</a:t>
            </a:r>
            <a:endParaRPr lang="en-US" dirty="0"/>
          </a:p>
        </p:txBody>
      </p:sp>
      <p:sp>
        <p:nvSpPr>
          <p:cNvPr id="3" name="Subtitle 2"/>
          <p:cNvSpPr>
            <a:spLocks noGrp="1"/>
          </p:cNvSpPr>
          <p:nvPr>
            <p:ph type="subTitle" idx="1"/>
          </p:nvPr>
        </p:nvSpPr>
        <p:spPr>
          <a:xfrm>
            <a:off x="3047802" y="7204076"/>
            <a:ext cx="18286810" cy="3311524"/>
          </a:xfrm>
        </p:spPr>
        <p:txBody>
          <a:bodyPr/>
          <a:lstStyle>
            <a:lvl1pPr marL="0" indent="0" algn="ctr">
              <a:buNone/>
              <a:defRPr sz="4800"/>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s-ES_tradnl"/>
              <a:t>Haga clic para modificar el estilo de subtítulo del patrón</a:t>
            </a:r>
            <a:endParaRPr lang="en-US" dirty="0"/>
          </a:p>
        </p:txBody>
      </p:sp>
      <p:sp>
        <p:nvSpPr>
          <p:cNvPr id="4" name="Date Placeholder 3"/>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663592" y="3419477"/>
            <a:ext cx="21029831" cy="5705474"/>
          </a:xfrm>
        </p:spPr>
        <p:txBody>
          <a:bodyPr anchor="b"/>
          <a:lstStyle>
            <a:lvl1pPr>
              <a:defRPr sz="11999"/>
            </a:lvl1pPr>
          </a:lstStyle>
          <a:p>
            <a:r>
              <a:rPr lang="es-ES_tradnl"/>
              <a:t>Haga clic para modificar el estilo de título del patrón</a:t>
            </a:r>
            <a:endParaRPr lang="en-US" dirty="0"/>
          </a:p>
        </p:txBody>
      </p:sp>
      <p:sp>
        <p:nvSpPr>
          <p:cNvPr id="3" name="Text Placeholder 2"/>
          <p:cNvSpPr>
            <a:spLocks noGrp="1"/>
          </p:cNvSpPr>
          <p:nvPr>
            <p:ph type="body" idx="1"/>
          </p:nvPr>
        </p:nvSpPr>
        <p:spPr>
          <a:xfrm>
            <a:off x="1663592" y="9178927"/>
            <a:ext cx="21029831" cy="3000374"/>
          </a:xfrm>
        </p:spPr>
        <p:txBody>
          <a:bodyPr/>
          <a:lstStyle>
            <a:lvl1pPr marL="0" indent="0">
              <a:buNone/>
              <a:defRPr sz="4800">
                <a:solidFill>
                  <a:schemeClr val="tx1">
                    <a:tint val="75000"/>
                  </a:schemeClr>
                </a:solidFill>
              </a:defRPr>
            </a:lvl1pPr>
            <a:lvl2pPr marL="914354" indent="0">
              <a:buNone/>
              <a:defRPr sz="4000">
                <a:solidFill>
                  <a:schemeClr val="tx1">
                    <a:tint val="75000"/>
                  </a:schemeClr>
                </a:solidFill>
              </a:defRPr>
            </a:lvl2pPr>
            <a:lvl3pPr marL="1828709" indent="0">
              <a:buNone/>
              <a:defRPr sz="3600">
                <a:solidFill>
                  <a:schemeClr val="tx1">
                    <a:tint val="75000"/>
                  </a:schemeClr>
                </a:solidFill>
              </a:defRPr>
            </a:lvl3pPr>
            <a:lvl4pPr marL="2743063" indent="0">
              <a:buNone/>
              <a:defRPr sz="3200">
                <a:solidFill>
                  <a:schemeClr val="tx1">
                    <a:tint val="75000"/>
                  </a:schemeClr>
                </a:solidFill>
              </a:defRPr>
            </a:lvl4pPr>
            <a:lvl5pPr marL="3657417" indent="0">
              <a:buNone/>
              <a:defRPr sz="3200">
                <a:solidFill>
                  <a:schemeClr val="tx1">
                    <a:tint val="75000"/>
                  </a:schemeClr>
                </a:solidFill>
              </a:defRPr>
            </a:lvl5pPr>
            <a:lvl6pPr marL="4571771" indent="0">
              <a:buNone/>
              <a:defRPr sz="3200">
                <a:solidFill>
                  <a:schemeClr val="tx1">
                    <a:tint val="75000"/>
                  </a:schemeClr>
                </a:solidFill>
              </a:defRPr>
            </a:lvl6pPr>
            <a:lvl7pPr marL="5486126" indent="0">
              <a:buNone/>
              <a:defRPr sz="3200">
                <a:solidFill>
                  <a:schemeClr val="tx1">
                    <a:tint val="75000"/>
                  </a:schemeClr>
                </a:solidFill>
              </a:defRPr>
            </a:lvl7pPr>
            <a:lvl8pPr marL="6400480" indent="0">
              <a:buNone/>
              <a:defRPr sz="3200">
                <a:solidFill>
                  <a:schemeClr val="tx1">
                    <a:tint val="75000"/>
                  </a:schemeClr>
                </a:solidFill>
              </a:defRPr>
            </a:lvl8pPr>
            <a:lvl9pPr marL="7314834" indent="0">
              <a:buNone/>
              <a:defRPr sz="3200">
                <a:solidFill>
                  <a:schemeClr val="tx1">
                    <a:tint val="75000"/>
                  </a:schemeClr>
                </a:solidFill>
              </a:defRPr>
            </a:lvl9pPr>
          </a:lstStyle>
          <a:p>
            <a:pPr lvl="0"/>
            <a:r>
              <a:rPr lang="es-ES_tradnl"/>
              <a:t>Haga clic para modificar los estilos de texto del patrón</a:t>
            </a:r>
          </a:p>
        </p:txBody>
      </p:sp>
      <p:sp>
        <p:nvSpPr>
          <p:cNvPr id="4" name="Date Placeholder 3"/>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Haga clic para modificar el estilo de título del patrón</a:t>
            </a:r>
            <a:endParaRPr lang="en-US" dirty="0"/>
          </a:p>
        </p:txBody>
      </p:sp>
      <p:sp>
        <p:nvSpPr>
          <p:cNvPr id="3" name="Content Placeholder 2"/>
          <p:cNvSpPr>
            <a:spLocks noGrp="1"/>
          </p:cNvSpPr>
          <p:nvPr>
            <p:ph sz="half" idx="1"/>
          </p:nvPr>
        </p:nvSpPr>
        <p:spPr>
          <a:xfrm>
            <a:off x="1676291" y="3651250"/>
            <a:ext cx="10362526" cy="8702676"/>
          </a:xfrm>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Content Placeholder 3"/>
          <p:cNvSpPr>
            <a:spLocks noGrp="1"/>
          </p:cNvSpPr>
          <p:nvPr>
            <p:ph sz="half" idx="2"/>
          </p:nvPr>
        </p:nvSpPr>
        <p:spPr>
          <a:xfrm>
            <a:off x="12343596" y="3651250"/>
            <a:ext cx="10362526" cy="8702676"/>
          </a:xfrm>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Date Placeholder 4"/>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679467" y="730251"/>
            <a:ext cx="21029831" cy="2651126"/>
          </a:xfrm>
        </p:spPr>
        <p:txBody>
          <a:bodyPr/>
          <a:lstStyle/>
          <a:p>
            <a:r>
              <a:rPr lang="es-ES_tradnl"/>
              <a:t>Haga clic para modificar el estilo de título del patrón</a:t>
            </a:r>
            <a:endParaRPr lang="en-US" dirty="0"/>
          </a:p>
        </p:txBody>
      </p:sp>
      <p:sp>
        <p:nvSpPr>
          <p:cNvPr id="3" name="Text Placeholder 2"/>
          <p:cNvSpPr>
            <a:spLocks noGrp="1"/>
          </p:cNvSpPr>
          <p:nvPr>
            <p:ph type="body" idx="1"/>
          </p:nvPr>
        </p:nvSpPr>
        <p:spPr>
          <a:xfrm>
            <a:off x="1679467" y="3362326"/>
            <a:ext cx="10314903" cy="1647824"/>
          </a:xfrm>
        </p:spPr>
        <p:txBody>
          <a:bodyPr anchor="b"/>
          <a:lstStyle>
            <a:lvl1pPr marL="0" indent="0">
              <a:buNone/>
              <a:defRPr sz="4800" b="1"/>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s-ES_tradnl"/>
              <a:t>Haga clic para modificar los estilos de texto del patrón</a:t>
            </a:r>
          </a:p>
        </p:txBody>
      </p:sp>
      <p:sp>
        <p:nvSpPr>
          <p:cNvPr id="4" name="Content Placeholder 3"/>
          <p:cNvSpPr>
            <a:spLocks noGrp="1"/>
          </p:cNvSpPr>
          <p:nvPr>
            <p:ph sz="half" idx="2"/>
          </p:nvPr>
        </p:nvSpPr>
        <p:spPr>
          <a:xfrm>
            <a:off x="1679467" y="5010150"/>
            <a:ext cx="10314903" cy="7369176"/>
          </a:xfrm>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Text Placeholder 4"/>
          <p:cNvSpPr>
            <a:spLocks noGrp="1"/>
          </p:cNvSpPr>
          <p:nvPr>
            <p:ph type="body" sz="quarter" idx="3"/>
          </p:nvPr>
        </p:nvSpPr>
        <p:spPr>
          <a:xfrm>
            <a:off x="12343597" y="3362326"/>
            <a:ext cx="10365701" cy="1647824"/>
          </a:xfrm>
        </p:spPr>
        <p:txBody>
          <a:bodyPr anchor="b"/>
          <a:lstStyle>
            <a:lvl1pPr marL="0" indent="0">
              <a:buNone/>
              <a:defRPr sz="4800" b="1"/>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s-ES_tradnl"/>
              <a:t>Haga clic para modificar los estilos de texto del patrón</a:t>
            </a:r>
          </a:p>
        </p:txBody>
      </p:sp>
      <p:sp>
        <p:nvSpPr>
          <p:cNvPr id="6" name="Content Placeholder 5"/>
          <p:cNvSpPr>
            <a:spLocks noGrp="1"/>
          </p:cNvSpPr>
          <p:nvPr>
            <p:ph sz="quarter" idx="4"/>
          </p:nvPr>
        </p:nvSpPr>
        <p:spPr>
          <a:xfrm>
            <a:off x="12343597" y="5010150"/>
            <a:ext cx="10365701" cy="7369176"/>
          </a:xfrm>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7" name="Date Placeholder 6"/>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Haga clic para modificar el estilo de título del patrón</a:t>
            </a:r>
            <a:endParaRPr lang="en-US" dirty="0"/>
          </a:p>
        </p:txBody>
      </p:sp>
      <p:sp>
        <p:nvSpPr>
          <p:cNvPr id="3" name="Date Placeholder 2"/>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468" y="914400"/>
            <a:ext cx="7863962" cy="3200400"/>
          </a:xfrm>
        </p:spPr>
        <p:txBody>
          <a:bodyPr anchor="b"/>
          <a:lstStyle>
            <a:lvl1pPr>
              <a:defRPr sz="6400"/>
            </a:lvl1pPr>
          </a:lstStyle>
          <a:p>
            <a:r>
              <a:rPr lang="es-ES_tradnl"/>
              <a:t>Haga clic para modificar el estilo de título del patrón</a:t>
            </a:r>
            <a:endParaRPr lang="en-US" dirty="0"/>
          </a:p>
        </p:txBody>
      </p:sp>
      <p:sp>
        <p:nvSpPr>
          <p:cNvPr id="3" name="Content Placeholder 2"/>
          <p:cNvSpPr>
            <a:spLocks noGrp="1"/>
          </p:cNvSpPr>
          <p:nvPr>
            <p:ph idx="1"/>
          </p:nvPr>
        </p:nvSpPr>
        <p:spPr>
          <a:xfrm>
            <a:off x="10365701" y="1974851"/>
            <a:ext cx="1234359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Text Placeholder 3"/>
          <p:cNvSpPr>
            <a:spLocks noGrp="1"/>
          </p:cNvSpPr>
          <p:nvPr>
            <p:ph type="body" sz="half" idx="2"/>
          </p:nvPr>
        </p:nvSpPr>
        <p:spPr>
          <a:xfrm>
            <a:off x="1679468" y="4114800"/>
            <a:ext cx="7863962" cy="7623176"/>
          </a:xfrm>
        </p:spPr>
        <p:txBody>
          <a:bodyPr/>
          <a:lstStyle>
            <a:lvl1pPr marL="0" indent="0">
              <a:buNone/>
              <a:defRPr sz="3200"/>
            </a:lvl1pPr>
            <a:lvl2pPr marL="914354" indent="0">
              <a:buNone/>
              <a:defRPr sz="2800"/>
            </a:lvl2pPr>
            <a:lvl3pPr marL="1828709" indent="0">
              <a:buNone/>
              <a:defRPr sz="2400"/>
            </a:lvl3pPr>
            <a:lvl4pPr marL="2743063" indent="0">
              <a:buNone/>
              <a:defRPr sz="2000"/>
            </a:lvl4pPr>
            <a:lvl5pPr marL="3657417" indent="0">
              <a:buNone/>
              <a:defRPr sz="2000"/>
            </a:lvl5pPr>
            <a:lvl6pPr marL="4571771" indent="0">
              <a:buNone/>
              <a:defRPr sz="2000"/>
            </a:lvl6pPr>
            <a:lvl7pPr marL="5486126" indent="0">
              <a:buNone/>
              <a:defRPr sz="2000"/>
            </a:lvl7pPr>
            <a:lvl8pPr marL="6400480" indent="0">
              <a:buNone/>
              <a:defRPr sz="2000"/>
            </a:lvl8pPr>
            <a:lvl9pPr marL="7314834" indent="0">
              <a:buNone/>
              <a:defRPr sz="2000"/>
            </a:lvl9pPr>
          </a:lstStyle>
          <a:p>
            <a:pPr lvl="0"/>
            <a:r>
              <a:rPr lang="es-ES_tradnl"/>
              <a:t>Haga clic para modificar los estilos de texto del patrón</a:t>
            </a:r>
          </a:p>
        </p:txBody>
      </p:sp>
      <p:sp>
        <p:nvSpPr>
          <p:cNvPr id="5" name="Date Placeholder 4"/>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468" y="914400"/>
            <a:ext cx="7863962" cy="3200400"/>
          </a:xfrm>
        </p:spPr>
        <p:txBody>
          <a:bodyPr anchor="b"/>
          <a:lstStyle>
            <a:lvl1pPr>
              <a:defRPr sz="6400"/>
            </a:lvl1pPr>
          </a:lstStyle>
          <a:p>
            <a:r>
              <a:rPr lang="es-ES_tradnl"/>
              <a:t>Haga clic para modificar el estilo de título del patrón</a:t>
            </a:r>
            <a:endParaRPr lang="en-US" dirty="0"/>
          </a:p>
        </p:txBody>
      </p:sp>
      <p:sp>
        <p:nvSpPr>
          <p:cNvPr id="3" name="Picture Placeholder 2"/>
          <p:cNvSpPr>
            <a:spLocks noGrp="1" noChangeAspect="1"/>
          </p:cNvSpPr>
          <p:nvPr>
            <p:ph type="pic" idx="1"/>
          </p:nvPr>
        </p:nvSpPr>
        <p:spPr>
          <a:xfrm>
            <a:off x="10365701" y="1974851"/>
            <a:ext cx="12343597" cy="9747250"/>
          </a:xfrm>
        </p:spPr>
        <p:txBody>
          <a:bodyPr anchor="t"/>
          <a:lstStyle>
            <a:lvl1pPr marL="0" indent="0">
              <a:buNone/>
              <a:defRPr sz="6400"/>
            </a:lvl1pPr>
            <a:lvl2pPr marL="914354" indent="0">
              <a:buNone/>
              <a:defRPr sz="5600"/>
            </a:lvl2pPr>
            <a:lvl3pPr marL="1828709" indent="0">
              <a:buNone/>
              <a:defRPr sz="4800"/>
            </a:lvl3pPr>
            <a:lvl4pPr marL="2743063" indent="0">
              <a:buNone/>
              <a:defRPr sz="4000"/>
            </a:lvl4pPr>
            <a:lvl5pPr marL="3657417" indent="0">
              <a:buNone/>
              <a:defRPr sz="4000"/>
            </a:lvl5pPr>
            <a:lvl6pPr marL="4571771" indent="0">
              <a:buNone/>
              <a:defRPr sz="4000"/>
            </a:lvl6pPr>
            <a:lvl7pPr marL="5486126" indent="0">
              <a:buNone/>
              <a:defRPr sz="4000"/>
            </a:lvl7pPr>
            <a:lvl8pPr marL="6400480" indent="0">
              <a:buNone/>
              <a:defRPr sz="4000"/>
            </a:lvl8pPr>
            <a:lvl9pPr marL="7314834" indent="0">
              <a:buNone/>
              <a:defRPr sz="4000"/>
            </a:lvl9pPr>
          </a:lstStyle>
          <a:p>
            <a:r>
              <a:rPr lang="es-ES_tradnl"/>
              <a:t>Arrastre la imagen al marcador de posición o haga clic en el icono para agregarla</a:t>
            </a:r>
            <a:endParaRPr lang="en-US" dirty="0"/>
          </a:p>
        </p:txBody>
      </p:sp>
      <p:sp>
        <p:nvSpPr>
          <p:cNvPr id="4" name="Text Placeholder 3"/>
          <p:cNvSpPr>
            <a:spLocks noGrp="1"/>
          </p:cNvSpPr>
          <p:nvPr>
            <p:ph type="body" sz="half" idx="2"/>
          </p:nvPr>
        </p:nvSpPr>
        <p:spPr>
          <a:xfrm>
            <a:off x="1679468" y="4114800"/>
            <a:ext cx="7863962" cy="7623176"/>
          </a:xfrm>
        </p:spPr>
        <p:txBody>
          <a:bodyPr/>
          <a:lstStyle>
            <a:lvl1pPr marL="0" indent="0">
              <a:buNone/>
              <a:defRPr sz="3200"/>
            </a:lvl1pPr>
            <a:lvl2pPr marL="914354" indent="0">
              <a:buNone/>
              <a:defRPr sz="2800"/>
            </a:lvl2pPr>
            <a:lvl3pPr marL="1828709" indent="0">
              <a:buNone/>
              <a:defRPr sz="2400"/>
            </a:lvl3pPr>
            <a:lvl4pPr marL="2743063" indent="0">
              <a:buNone/>
              <a:defRPr sz="2000"/>
            </a:lvl4pPr>
            <a:lvl5pPr marL="3657417" indent="0">
              <a:buNone/>
              <a:defRPr sz="2000"/>
            </a:lvl5pPr>
            <a:lvl6pPr marL="4571771" indent="0">
              <a:buNone/>
              <a:defRPr sz="2000"/>
            </a:lvl6pPr>
            <a:lvl7pPr marL="5486126" indent="0">
              <a:buNone/>
              <a:defRPr sz="2000"/>
            </a:lvl7pPr>
            <a:lvl8pPr marL="6400480" indent="0">
              <a:buNone/>
              <a:defRPr sz="2000"/>
            </a:lvl8pPr>
            <a:lvl9pPr marL="7314834" indent="0">
              <a:buNone/>
              <a:defRPr sz="2000"/>
            </a:lvl9pPr>
          </a:lstStyle>
          <a:p>
            <a:pPr lvl="0"/>
            <a:r>
              <a:rPr lang="es-ES_tradnl"/>
              <a:t>Haga clic para modificar los estilos de texto del patrón</a:t>
            </a:r>
          </a:p>
        </p:txBody>
      </p:sp>
      <p:sp>
        <p:nvSpPr>
          <p:cNvPr id="5" name="Date Placeholder 4"/>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8664" y="730250"/>
            <a:ext cx="5257458" cy="11623676"/>
          </a:xfrm>
        </p:spPr>
        <p:txBody>
          <a:bodyPr vert="eaVert"/>
          <a:lstStyle/>
          <a:p>
            <a:r>
              <a:rPr lang="es-ES_tradnl"/>
              <a:t>Haga clic para modificar el estilo de título del patrón</a:t>
            </a:r>
            <a:endParaRPr lang="en-US" dirty="0"/>
          </a:p>
        </p:txBody>
      </p:sp>
      <p:sp>
        <p:nvSpPr>
          <p:cNvPr id="3" name="Vertical Text Placeholder 2"/>
          <p:cNvSpPr>
            <a:spLocks noGrp="1"/>
          </p:cNvSpPr>
          <p:nvPr>
            <p:ph type="body" orient="vert" idx="1"/>
          </p:nvPr>
        </p:nvSpPr>
        <p:spPr>
          <a:xfrm>
            <a:off x="1676291" y="730250"/>
            <a:ext cx="15467593" cy="11623676"/>
          </a:xfrm>
        </p:spPr>
        <p:txBody>
          <a:bodyPr vert="eaVert"/>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AD759D54-C465-E042-8773-2461E320EA9C}" type="datetimeFigureOut">
              <a:rPr lang="es-ES_tradnl" smtClean="0"/>
              <a:t>21/01/2021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5482F26D-4973-6248-B53D-6FAE743B566F}" type="slidenum">
              <a:rPr lang="es-ES_tradnl" smtClean="0"/>
              <a:t>‹Nº›</a:t>
            </a:fld>
            <a:endParaRPr lang="es-ES_trad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s-ES_tradnl"/>
              <a:t>Haga clic para modificar el estilo de título del patrón</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AD759D54-C465-E042-8773-2461E320EA9C}" type="datetimeFigureOut">
              <a:rPr lang="es-ES_tradnl" smtClean="0"/>
              <a:t>21/01/2021</a:t>
            </a:fld>
            <a:endParaRPr lang="es-ES_tradnl"/>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s-ES_tradnl"/>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5482F26D-4973-6248-B53D-6FAE743B566F}" type="slidenum">
              <a:rPr lang="es-ES_tradnl" smtClean="0"/>
              <a:t>‹Nº›</a:t>
            </a:fld>
            <a:endParaRPr lang="es-ES_tradnl"/>
          </a:p>
        </p:txBody>
      </p:sp>
    </p:spTree>
    <p:extLst>
      <p:ext uri="{BB962C8B-B14F-4D97-AF65-F5344CB8AC3E}">
        <p14:creationId xmlns:p14="http://schemas.microsoft.com/office/powerpoint/2010/main" val="9995371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828709"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4.sv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notesSlide" Target="../notesSlides/notesSlide5.xml"/><Relationship Id="rId16" Type="http://schemas.openxmlformats.org/officeDocument/2006/relationships/image" Target="../media/image36.sv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svg"/><Relationship Id="rId9" Type="http://schemas.openxmlformats.org/officeDocument/2006/relationships/image" Target="../media/image29.jpeg"/><Relationship Id="rId14" Type="http://schemas.openxmlformats.org/officeDocument/2006/relationships/image" Target="../media/image34.sv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svg"/></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2413" cy="13715107"/>
          </a:xfrm>
          <a:prstGeom prst="rect">
            <a:avLst/>
          </a:prstGeom>
        </p:spPr>
      </p:pic>
    </p:spTree>
    <p:extLst>
      <p:ext uri="{BB962C8B-B14F-4D97-AF65-F5344CB8AC3E}">
        <p14:creationId xmlns:p14="http://schemas.microsoft.com/office/powerpoint/2010/main" val="548402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BC66EF89-0735-4FB4-9A9B-DC1F8288202E}"/>
              </a:ext>
            </a:extLst>
          </p:cNvPr>
          <p:cNvSpPr txBox="1">
            <a:spLocks/>
          </p:cNvSpPr>
          <p:nvPr/>
        </p:nvSpPr>
        <p:spPr>
          <a:xfrm>
            <a:off x="3074468" y="1494692"/>
            <a:ext cx="18233476" cy="11289323"/>
          </a:xfrm>
          <a:prstGeom prst="rect">
            <a:avLst/>
          </a:prstGeom>
        </p:spPr>
        <p:txBody>
          <a:bodyPr vert="horz" lIns="91440" tIns="45720" rIns="91440" bIns="45720" rtlCol="0" anchor="b">
            <a:noAutofit/>
          </a:bodyPr>
          <a:lstStyle>
            <a:lvl1pPr algn="ctr" defTabSz="1828709" rtl="0" eaLnBrk="1" latinLnBrk="0" hangingPunct="1">
              <a:lnSpc>
                <a:spcPct val="90000"/>
              </a:lnSpc>
              <a:spcBef>
                <a:spcPct val="0"/>
              </a:spcBef>
              <a:buNone/>
              <a:defRPr sz="11999" kern="1200">
                <a:solidFill>
                  <a:schemeClr val="tx1"/>
                </a:solidFill>
                <a:latin typeface="+mj-lt"/>
                <a:ea typeface="+mj-ea"/>
                <a:cs typeface="+mj-cs"/>
              </a:defRPr>
            </a:lvl1pPr>
          </a:lstStyle>
          <a:p>
            <a:r>
              <a:rPr lang="es-MX" sz="7200" b="1" dirty="0">
                <a:solidFill>
                  <a:srgbClr val="173458"/>
                </a:solidFill>
                <a:latin typeface="Arial" charset="0"/>
                <a:ea typeface="Arial" charset="0"/>
                <a:cs typeface="Arial" charset="0"/>
              </a:rPr>
              <a:t>DISEÑO </a:t>
            </a:r>
            <a:r>
              <a:rPr lang="es-MX" sz="7200" dirty="0">
                <a:solidFill>
                  <a:srgbClr val="173458"/>
                </a:solidFill>
                <a:latin typeface="Arial" charset="0"/>
                <a:ea typeface="Arial" charset="0"/>
                <a:cs typeface="Arial" charset="0"/>
              </a:rPr>
              <a:t>E</a:t>
            </a:r>
            <a:r>
              <a:rPr lang="es-MX" sz="7200" b="1" dirty="0">
                <a:solidFill>
                  <a:srgbClr val="173458"/>
                </a:solidFill>
                <a:latin typeface="Arial" charset="0"/>
                <a:ea typeface="Arial" charset="0"/>
                <a:cs typeface="Arial" charset="0"/>
              </a:rPr>
              <a:t> IMPLEMENTACIÓN</a:t>
            </a:r>
            <a:r>
              <a:rPr lang="es-MX" sz="7200" dirty="0">
                <a:solidFill>
                  <a:srgbClr val="173458"/>
                </a:solidFill>
                <a:latin typeface="Arial" charset="0"/>
                <a:ea typeface="Arial" charset="0"/>
                <a:cs typeface="Arial" charset="0"/>
              </a:rPr>
              <a:t> DE UN PROTOTIPO DE PLATAFORMA DE APOYO AL APRENDIZAJE DE LA </a:t>
            </a:r>
            <a:r>
              <a:rPr lang="es-MX" sz="7200" b="1" dirty="0">
                <a:solidFill>
                  <a:srgbClr val="173458"/>
                </a:solidFill>
                <a:latin typeface="Arial" charset="0"/>
                <a:ea typeface="Arial" charset="0"/>
                <a:cs typeface="Arial" charset="0"/>
              </a:rPr>
              <a:t>PROGRAMACIÓN</a:t>
            </a:r>
            <a:r>
              <a:rPr lang="es-MX" sz="7200" dirty="0">
                <a:solidFill>
                  <a:srgbClr val="173458"/>
                </a:solidFill>
                <a:latin typeface="Arial" charset="0"/>
                <a:ea typeface="Arial" charset="0"/>
                <a:cs typeface="Arial" charset="0"/>
              </a:rPr>
              <a:t> DE COMPUTADORES Y LA ALGORITMIA PARA LOS </a:t>
            </a:r>
            <a:r>
              <a:rPr lang="es-MX" sz="7200" b="1" dirty="0">
                <a:solidFill>
                  <a:srgbClr val="173458"/>
                </a:solidFill>
                <a:latin typeface="Arial" charset="0"/>
                <a:ea typeface="Arial" charset="0"/>
                <a:cs typeface="Arial" charset="0"/>
              </a:rPr>
              <a:t>PROGRAMAS DE INGENIERÍA </a:t>
            </a:r>
            <a:r>
              <a:rPr lang="es-MX" sz="7200" dirty="0">
                <a:solidFill>
                  <a:srgbClr val="173458"/>
                </a:solidFill>
                <a:latin typeface="Arial" charset="0"/>
                <a:ea typeface="Arial" charset="0"/>
                <a:cs typeface="Arial" charset="0"/>
              </a:rPr>
              <a:t>DEL POLITÉCNICO GRANCOLOMBIANO</a:t>
            </a:r>
          </a:p>
          <a:p>
            <a:endParaRPr lang="es-MX" sz="6600" dirty="0">
              <a:solidFill>
                <a:srgbClr val="173458"/>
              </a:solidFill>
              <a:latin typeface="Arial" charset="0"/>
              <a:ea typeface="Arial" charset="0"/>
              <a:cs typeface="Arial" charset="0"/>
            </a:endParaRPr>
          </a:p>
          <a:p>
            <a:endParaRPr lang="es-MX" sz="6600" dirty="0">
              <a:solidFill>
                <a:srgbClr val="173458"/>
              </a:solidFill>
              <a:latin typeface="Arial" charset="0"/>
              <a:ea typeface="Arial" charset="0"/>
              <a:cs typeface="Arial" charset="0"/>
            </a:endParaRPr>
          </a:p>
          <a:p>
            <a:endParaRPr lang="es-MX" sz="6600" dirty="0">
              <a:solidFill>
                <a:srgbClr val="173458"/>
              </a:solidFill>
              <a:latin typeface="Arial" charset="0"/>
              <a:ea typeface="Arial" charset="0"/>
              <a:cs typeface="Arial" charset="0"/>
            </a:endParaRPr>
          </a:p>
          <a:p>
            <a:endParaRPr lang="es-MX" sz="6600" dirty="0">
              <a:solidFill>
                <a:srgbClr val="173458"/>
              </a:solidFill>
              <a:latin typeface="Arial" charset="0"/>
              <a:ea typeface="Arial" charset="0"/>
              <a:cs typeface="Arial" charset="0"/>
            </a:endParaRPr>
          </a:p>
        </p:txBody>
      </p:sp>
      <p:sp>
        <p:nvSpPr>
          <p:cNvPr id="2" name="CuadroTexto 1">
            <a:extLst>
              <a:ext uri="{FF2B5EF4-FFF2-40B4-BE49-F238E27FC236}">
                <a16:creationId xmlns:a16="http://schemas.microsoft.com/office/drawing/2014/main" id="{6596E274-DC04-4C70-A942-74ADD8F5C39D}"/>
              </a:ext>
            </a:extLst>
          </p:cNvPr>
          <p:cNvSpPr txBox="1"/>
          <p:nvPr/>
        </p:nvSpPr>
        <p:spPr>
          <a:xfrm>
            <a:off x="3074468" y="10343871"/>
            <a:ext cx="9588683" cy="1877437"/>
          </a:xfrm>
          <a:prstGeom prst="rect">
            <a:avLst/>
          </a:prstGeom>
          <a:noFill/>
        </p:spPr>
        <p:txBody>
          <a:bodyPr wrap="square" rtlCol="0">
            <a:spAutoFit/>
          </a:bodyPr>
          <a:lstStyle/>
          <a:p>
            <a:pPr marL="571500" indent="-571500">
              <a:buFont typeface="Arial" panose="020B0604020202020204" pitchFamily="34" charset="0"/>
              <a:buChar char="•"/>
            </a:pPr>
            <a:r>
              <a:rPr lang="es-MX" sz="4000" dirty="0">
                <a:solidFill>
                  <a:srgbClr val="173458"/>
                </a:solidFill>
                <a:latin typeface="Arial" charset="0"/>
                <a:ea typeface="Arial" charset="0"/>
                <a:cs typeface="Arial" charset="0"/>
              </a:rPr>
              <a:t>Marlon Alexander Estupiñán Galindo</a:t>
            </a:r>
          </a:p>
          <a:p>
            <a:pPr marL="571500" indent="-571500">
              <a:buFont typeface="Arial" panose="020B0604020202020204" pitchFamily="34" charset="0"/>
              <a:buChar char="•"/>
            </a:pPr>
            <a:r>
              <a:rPr lang="es-MX" sz="4000" dirty="0">
                <a:solidFill>
                  <a:srgbClr val="173458"/>
                </a:solidFill>
                <a:latin typeface="Arial" charset="0"/>
                <a:ea typeface="Arial" charset="0"/>
                <a:cs typeface="Arial" charset="0"/>
              </a:rPr>
              <a:t>Andrés Gustavo Osorio Jiménez</a:t>
            </a:r>
            <a:endParaRPr lang="es-ES_tradnl" sz="4000" dirty="0">
              <a:solidFill>
                <a:srgbClr val="173458"/>
              </a:solidFill>
              <a:latin typeface="Arial" charset="0"/>
              <a:ea typeface="Arial" charset="0"/>
              <a:cs typeface="Arial" charset="0"/>
            </a:endParaRPr>
          </a:p>
          <a:p>
            <a:endParaRPr lang="es-CO" dirty="0"/>
          </a:p>
        </p:txBody>
      </p:sp>
    </p:spTree>
    <p:extLst>
      <p:ext uri="{BB962C8B-B14F-4D97-AF65-F5344CB8AC3E}">
        <p14:creationId xmlns:p14="http://schemas.microsoft.com/office/powerpoint/2010/main" val="2681356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2413" cy="13715107"/>
          </a:xfrm>
          <a:prstGeom prst="rect">
            <a:avLst/>
          </a:prstGeom>
        </p:spPr>
      </p:pic>
      <p:sp>
        <p:nvSpPr>
          <p:cNvPr id="2" name="Título 1"/>
          <p:cNvSpPr>
            <a:spLocks noGrp="1"/>
          </p:cNvSpPr>
          <p:nvPr>
            <p:ph type="ctrTitle"/>
          </p:nvPr>
        </p:nvSpPr>
        <p:spPr>
          <a:xfrm>
            <a:off x="10591603" y="6053563"/>
            <a:ext cx="11665725" cy="1607979"/>
          </a:xfrm>
        </p:spPr>
        <p:txBody>
          <a:bodyPr>
            <a:normAutofit/>
          </a:bodyPr>
          <a:lstStyle/>
          <a:p>
            <a:pPr algn="l"/>
            <a:r>
              <a:rPr lang="es-ES_tradnl" sz="9600" b="1" dirty="0">
                <a:solidFill>
                  <a:schemeClr val="bg1"/>
                </a:solidFill>
                <a:latin typeface="Arial" charset="0"/>
                <a:ea typeface="Arial" charset="0"/>
                <a:cs typeface="Arial" charset="0"/>
              </a:rPr>
              <a:t>PROBLEMÁTICA</a:t>
            </a:r>
            <a:endParaRPr lang="es-ES_tradnl" sz="9600" dirty="0">
              <a:solidFill>
                <a:schemeClr val="bg1"/>
              </a:solidFill>
              <a:latin typeface="Arial" charset="0"/>
              <a:ea typeface="Arial" charset="0"/>
              <a:cs typeface="Arial" charset="0"/>
            </a:endParaRPr>
          </a:p>
        </p:txBody>
      </p:sp>
    </p:spTree>
    <p:extLst>
      <p:ext uri="{BB962C8B-B14F-4D97-AF65-F5344CB8AC3E}">
        <p14:creationId xmlns:p14="http://schemas.microsoft.com/office/powerpoint/2010/main" val="1719623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D34C30C-684A-48C7-98C6-9ED76B92518E}"/>
              </a:ext>
            </a:extLst>
          </p:cNvPr>
          <p:cNvSpPr>
            <a:spLocks noGrp="1"/>
          </p:cNvSpPr>
          <p:nvPr>
            <p:ph idx="1"/>
          </p:nvPr>
        </p:nvSpPr>
        <p:spPr>
          <a:xfrm>
            <a:off x="2366033" y="3231509"/>
            <a:ext cx="19650345" cy="7252982"/>
          </a:xfrm>
        </p:spPr>
        <p:txBody>
          <a:bodyPr>
            <a:normAutofit/>
          </a:bodyPr>
          <a:lstStyle/>
          <a:p>
            <a:pPr marL="0" indent="0" algn="ctr">
              <a:lnSpc>
                <a:spcPct val="100000"/>
              </a:lnSpc>
              <a:buNone/>
            </a:pPr>
            <a:r>
              <a:rPr lang="es-MX" sz="6600" dirty="0">
                <a:solidFill>
                  <a:srgbClr val="173458"/>
                </a:solidFill>
                <a:latin typeface="Arial" panose="020B0604020202020204" pitchFamily="34" charset="0"/>
                <a:cs typeface="Arial" panose="020B0604020202020204" pitchFamily="34" charset="0"/>
              </a:rPr>
              <a:t>¿Necesita el Politécnico Grancolombiano una </a:t>
            </a:r>
            <a:r>
              <a:rPr lang="es-MX" sz="6600" b="1" dirty="0">
                <a:solidFill>
                  <a:srgbClr val="173458"/>
                </a:solidFill>
                <a:latin typeface="Arial" panose="020B0604020202020204" pitchFamily="34" charset="0"/>
                <a:cs typeface="Arial" panose="020B0604020202020204" pitchFamily="34" charset="0"/>
              </a:rPr>
              <a:t>plataforma</a:t>
            </a:r>
            <a:r>
              <a:rPr lang="es-MX" sz="6600" dirty="0">
                <a:solidFill>
                  <a:srgbClr val="173458"/>
                </a:solidFill>
                <a:latin typeface="Arial" panose="020B0604020202020204" pitchFamily="34" charset="0"/>
                <a:cs typeface="Arial" panose="020B0604020202020204" pitchFamily="34" charset="0"/>
              </a:rPr>
              <a:t> independiente del campus virtual o el </a:t>
            </a:r>
            <a:r>
              <a:rPr lang="es-MX" sz="6600" dirty="0" err="1">
                <a:solidFill>
                  <a:srgbClr val="173458"/>
                </a:solidFill>
                <a:latin typeface="Arial" panose="020B0604020202020204" pitchFamily="34" charset="0"/>
                <a:cs typeface="Arial" panose="020B0604020202020204" pitchFamily="34" charset="0"/>
              </a:rPr>
              <a:t>moodle</a:t>
            </a:r>
            <a:r>
              <a:rPr lang="es-MX" sz="6600" dirty="0">
                <a:solidFill>
                  <a:srgbClr val="173458"/>
                </a:solidFill>
                <a:latin typeface="Arial" panose="020B0604020202020204" pitchFamily="34" charset="0"/>
                <a:cs typeface="Arial" panose="020B0604020202020204" pitchFamily="34" charset="0"/>
              </a:rPr>
              <a:t>, para sus programas de ingeniería de </a:t>
            </a:r>
            <a:r>
              <a:rPr lang="es-MX" sz="6600" b="1" dirty="0">
                <a:solidFill>
                  <a:srgbClr val="173458"/>
                </a:solidFill>
                <a:latin typeface="Arial" panose="020B0604020202020204" pitchFamily="34" charset="0"/>
                <a:cs typeface="Arial" panose="020B0604020202020204" pitchFamily="34" charset="0"/>
              </a:rPr>
              <a:t>sistemas y software</a:t>
            </a:r>
            <a:r>
              <a:rPr lang="es-MX" sz="6600" dirty="0">
                <a:solidFill>
                  <a:srgbClr val="173458"/>
                </a:solidFill>
                <a:latin typeface="Arial" panose="020B0604020202020204" pitchFamily="34" charset="0"/>
                <a:cs typeface="Arial" panose="020B0604020202020204" pitchFamily="34" charset="0"/>
              </a:rPr>
              <a:t>, que tenga la finalidad de complementar y reforzar los temas dados en clase, así como proveer un método alternativo de </a:t>
            </a:r>
            <a:r>
              <a:rPr lang="es-MX" sz="6600" b="1" dirty="0">
                <a:solidFill>
                  <a:srgbClr val="173458"/>
                </a:solidFill>
                <a:latin typeface="Arial" panose="020B0604020202020204" pitchFamily="34" charset="0"/>
                <a:cs typeface="Arial" panose="020B0604020202020204" pitchFamily="34" charset="0"/>
              </a:rPr>
              <a:t>evaluación de competencias</a:t>
            </a:r>
            <a:r>
              <a:rPr lang="es-MX" sz="6600" dirty="0">
                <a:solidFill>
                  <a:srgbClr val="173458"/>
                </a:solidFill>
                <a:latin typeface="Arial" panose="020B0604020202020204" pitchFamily="34" charset="0"/>
                <a:cs typeface="Arial" panose="020B0604020202020204" pitchFamily="34" charset="0"/>
              </a:rPr>
              <a:t>?</a:t>
            </a:r>
            <a:endParaRPr lang="es-CO" sz="6600" dirty="0">
              <a:solidFill>
                <a:srgbClr val="17345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3232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2413" cy="13715107"/>
          </a:xfrm>
          <a:prstGeom prst="rect">
            <a:avLst/>
          </a:prstGeom>
        </p:spPr>
      </p:pic>
      <p:sp>
        <p:nvSpPr>
          <p:cNvPr id="2" name="Título 1"/>
          <p:cNvSpPr>
            <a:spLocks noGrp="1"/>
          </p:cNvSpPr>
          <p:nvPr>
            <p:ph type="ctrTitle"/>
          </p:nvPr>
        </p:nvSpPr>
        <p:spPr>
          <a:xfrm>
            <a:off x="10415757" y="6079940"/>
            <a:ext cx="11665725" cy="1555225"/>
          </a:xfrm>
        </p:spPr>
        <p:txBody>
          <a:bodyPr>
            <a:normAutofit/>
          </a:bodyPr>
          <a:lstStyle/>
          <a:p>
            <a:pPr algn="l"/>
            <a:r>
              <a:rPr lang="es-ES_tradnl" sz="9600" b="1" dirty="0">
                <a:solidFill>
                  <a:schemeClr val="bg1"/>
                </a:solidFill>
                <a:latin typeface="Arial" charset="0"/>
                <a:ea typeface="Arial" charset="0"/>
                <a:cs typeface="Arial" charset="0"/>
              </a:rPr>
              <a:t>OBJETIVO</a:t>
            </a:r>
            <a:endParaRPr lang="es-ES_tradnl" sz="9600" dirty="0">
              <a:solidFill>
                <a:schemeClr val="bg1"/>
              </a:solidFill>
              <a:latin typeface="Arial" charset="0"/>
              <a:ea typeface="Arial" charset="0"/>
              <a:cs typeface="Arial" charset="0"/>
            </a:endParaRPr>
          </a:p>
        </p:txBody>
      </p:sp>
    </p:spTree>
    <p:extLst>
      <p:ext uri="{BB962C8B-B14F-4D97-AF65-F5344CB8AC3E}">
        <p14:creationId xmlns:p14="http://schemas.microsoft.com/office/powerpoint/2010/main" val="1449563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4E16363-6C77-4ACD-9CBE-DDBD3D21F446}"/>
              </a:ext>
            </a:extLst>
          </p:cNvPr>
          <p:cNvSpPr txBox="1">
            <a:spLocks/>
          </p:cNvSpPr>
          <p:nvPr/>
        </p:nvSpPr>
        <p:spPr>
          <a:xfrm>
            <a:off x="2748268" y="2980592"/>
            <a:ext cx="18885876" cy="7754816"/>
          </a:xfrm>
          <a:prstGeom prst="rect">
            <a:avLst/>
          </a:prstGeom>
        </p:spPr>
        <p:txBody>
          <a:bodyPr vert="horz" lIns="91440" tIns="45720" rIns="91440" bIns="45720" rtlCol="0" anchor="ctr">
            <a:normAutofit/>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s-MX" sz="7200" dirty="0">
                <a:solidFill>
                  <a:srgbClr val="173458"/>
                </a:solidFill>
                <a:latin typeface="Arial" panose="020B0604020202020204" pitchFamily="34" charset="0"/>
                <a:cs typeface="Arial" panose="020B0604020202020204" pitchFamily="34" charset="0"/>
              </a:rPr>
              <a:t>Desarrollar un prototipo de plataforma web enfocada en el aprendizaje de programación de computadores, en un contexto de programación competitiva, dirigida a los programas de Ingeniería del Politécnico Grancolombiano</a:t>
            </a:r>
            <a:endParaRPr lang="es-CO" sz="4400" dirty="0">
              <a:solidFill>
                <a:srgbClr val="173458"/>
              </a:solidFill>
              <a:latin typeface="Arial" panose="020B0604020202020204" pitchFamily="34" charset="0"/>
              <a:cs typeface="Arial" panose="020B0604020202020204" pitchFamily="34" charset="0"/>
            </a:endParaRPr>
          </a:p>
          <a:p>
            <a:pPr lvl="1"/>
            <a:endParaRPr lang="es-CO" dirty="0"/>
          </a:p>
        </p:txBody>
      </p:sp>
      <p:sp>
        <p:nvSpPr>
          <p:cNvPr id="5" name="CuadroTexto 4">
            <a:extLst>
              <a:ext uri="{FF2B5EF4-FFF2-40B4-BE49-F238E27FC236}">
                <a16:creationId xmlns:a16="http://schemas.microsoft.com/office/drawing/2014/main" id="{5464921B-DB10-4BCC-953F-1DFCFCD30439}"/>
              </a:ext>
            </a:extLst>
          </p:cNvPr>
          <p:cNvSpPr txBox="1"/>
          <p:nvPr/>
        </p:nvSpPr>
        <p:spPr>
          <a:xfrm>
            <a:off x="1788572" y="1234122"/>
            <a:ext cx="6687213"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Objetivo General</a:t>
            </a:r>
            <a:endParaRPr lang="es-CO" sz="4800" dirty="0"/>
          </a:p>
        </p:txBody>
      </p:sp>
    </p:spTree>
    <p:extLst>
      <p:ext uri="{BB962C8B-B14F-4D97-AF65-F5344CB8AC3E}">
        <p14:creationId xmlns:p14="http://schemas.microsoft.com/office/powerpoint/2010/main" val="847006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8B37FB-9306-4717-9CF2-E109DA57A00C}"/>
              </a:ext>
            </a:extLst>
          </p:cNvPr>
          <p:cNvSpPr>
            <a:spLocks noGrp="1"/>
          </p:cNvSpPr>
          <p:nvPr>
            <p:ph idx="1"/>
          </p:nvPr>
        </p:nvSpPr>
        <p:spPr>
          <a:xfrm>
            <a:off x="2701276" y="2103559"/>
            <a:ext cx="18979860" cy="9508881"/>
          </a:xfrm>
        </p:spPr>
        <p:txBody>
          <a:bodyPr anchor="ctr">
            <a:noAutofit/>
          </a:bodyPr>
          <a:lstStyle/>
          <a:p>
            <a:pPr lvl="0"/>
            <a:r>
              <a:rPr lang="es-MX" sz="6000" dirty="0">
                <a:solidFill>
                  <a:srgbClr val="173458"/>
                </a:solidFill>
              </a:rPr>
              <a:t>Evaluar la oferta actual de herramientas y plataformas para el apoyo del proceso de aprendizaje de temas relacionados con la algoritmia y la programación de computadores.</a:t>
            </a:r>
          </a:p>
          <a:p>
            <a:pPr marL="0" lvl="0" indent="0">
              <a:buNone/>
            </a:pPr>
            <a:endParaRPr lang="es-CO" sz="6000" dirty="0">
              <a:solidFill>
                <a:srgbClr val="173458"/>
              </a:solidFill>
            </a:endParaRPr>
          </a:p>
          <a:p>
            <a:pPr lvl="0"/>
            <a:r>
              <a:rPr lang="es-MX" sz="6000" dirty="0">
                <a:solidFill>
                  <a:srgbClr val="173458"/>
                </a:solidFill>
              </a:rPr>
              <a:t>Diseñar una plataforma web, centrada en programación competitiva, como herramienta de apoyo a las asignaturas asociadas con algoritmia y programación de computadores del Politécnico Grancolombiano</a:t>
            </a:r>
            <a:endParaRPr lang="es-CO" sz="6000" dirty="0">
              <a:solidFill>
                <a:srgbClr val="173458"/>
              </a:solidFill>
            </a:endParaRPr>
          </a:p>
        </p:txBody>
      </p:sp>
      <p:sp>
        <p:nvSpPr>
          <p:cNvPr id="5" name="CuadroTexto 4">
            <a:extLst>
              <a:ext uri="{FF2B5EF4-FFF2-40B4-BE49-F238E27FC236}">
                <a16:creationId xmlns:a16="http://schemas.microsoft.com/office/drawing/2014/main" id="{54402D63-33CB-4250-B0DB-2BF299679499}"/>
              </a:ext>
            </a:extLst>
          </p:cNvPr>
          <p:cNvSpPr txBox="1"/>
          <p:nvPr/>
        </p:nvSpPr>
        <p:spPr>
          <a:xfrm>
            <a:off x="1788572" y="1234122"/>
            <a:ext cx="6687213"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Objetivos Específicos</a:t>
            </a:r>
            <a:endParaRPr lang="es-CO" sz="4800" dirty="0"/>
          </a:p>
        </p:txBody>
      </p:sp>
    </p:spTree>
    <p:extLst>
      <p:ext uri="{BB962C8B-B14F-4D97-AF65-F5344CB8AC3E}">
        <p14:creationId xmlns:p14="http://schemas.microsoft.com/office/powerpoint/2010/main" val="142122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8B37FB-9306-4717-9CF2-E109DA57A00C}"/>
              </a:ext>
            </a:extLst>
          </p:cNvPr>
          <p:cNvSpPr>
            <a:spLocks noGrp="1"/>
          </p:cNvSpPr>
          <p:nvPr>
            <p:ph idx="1"/>
          </p:nvPr>
        </p:nvSpPr>
        <p:spPr>
          <a:xfrm>
            <a:off x="2701276" y="2103559"/>
            <a:ext cx="18979860" cy="9508881"/>
          </a:xfrm>
        </p:spPr>
        <p:txBody>
          <a:bodyPr anchor="ctr">
            <a:noAutofit/>
          </a:bodyPr>
          <a:lstStyle/>
          <a:p>
            <a:r>
              <a:rPr lang="es-MX" sz="6000" dirty="0">
                <a:solidFill>
                  <a:srgbClr val="173458"/>
                </a:solidFill>
              </a:rPr>
              <a:t>Implementar una plataforma que permita la administración, visualización y evaluación de cursos relacionados con algoritmia y programación de computadores</a:t>
            </a:r>
            <a:endParaRPr lang="es-CO" sz="6000" dirty="0">
              <a:solidFill>
                <a:srgbClr val="173458"/>
              </a:solidFill>
            </a:endParaRPr>
          </a:p>
          <a:p>
            <a:pPr marL="0" indent="0">
              <a:buNone/>
            </a:pPr>
            <a:endParaRPr lang="es-MX" sz="6000" dirty="0">
              <a:solidFill>
                <a:srgbClr val="173458"/>
              </a:solidFill>
            </a:endParaRPr>
          </a:p>
          <a:p>
            <a:pPr lvl="0"/>
            <a:r>
              <a:rPr lang="es-MX" sz="6000" dirty="0">
                <a:solidFill>
                  <a:srgbClr val="173458"/>
                </a:solidFill>
              </a:rPr>
              <a:t>Implementar una plataforma que permita la realización de competencias de programación para fomentar el desarrollo de habilidades en resolución de problemas, diseño de algoritmos y programación.</a:t>
            </a:r>
          </a:p>
        </p:txBody>
      </p:sp>
      <p:sp>
        <p:nvSpPr>
          <p:cNvPr id="4" name="CuadroTexto 3">
            <a:extLst>
              <a:ext uri="{FF2B5EF4-FFF2-40B4-BE49-F238E27FC236}">
                <a16:creationId xmlns:a16="http://schemas.microsoft.com/office/drawing/2014/main" id="{FD24C199-CA35-417C-A650-CB5157D7DFC2}"/>
              </a:ext>
            </a:extLst>
          </p:cNvPr>
          <p:cNvSpPr txBox="1"/>
          <p:nvPr/>
        </p:nvSpPr>
        <p:spPr>
          <a:xfrm>
            <a:off x="1788572" y="1234122"/>
            <a:ext cx="6687213"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Objetivos Específicos</a:t>
            </a:r>
            <a:endParaRPr lang="es-CO" sz="4800" dirty="0"/>
          </a:p>
        </p:txBody>
      </p:sp>
    </p:spTree>
    <p:extLst>
      <p:ext uri="{BB962C8B-B14F-4D97-AF65-F5344CB8AC3E}">
        <p14:creationId xmlns:p14="http://schemas.microsoft.com/office/powerpoint/2010/main" val="3341717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2413" cy="13715107"/>
          </a:xfrm>
          <a:prstGeom prst="rect">
            <a:avLst/>
          </a:prstGeom>
        </p:spPr>
      </p:pic>
      <p:sp>
        <p:nvSpPr>
          <p:cNvPr id="2" name="Título 1"/>
          <p:cNvSpPr>
            <a:spLocks noGrp="1"/>
          </p:cNvSpPr>
          <p:nvPr>
            <p:ph type="ctrTitle"/>
          </p:nvPr>
        </p:nvSpPr>
        <p:spPr>
          <a:xfrm>
            <a:off x="10591603" y="5948056"/>
            <a:ext cx="11665725" cy="1818994"/>
          </a:xfrm>
        </p:spPr>
        <p:txBody>
          <a:bodyPr>
            <a:normAutofit/>
          </a:bodyPr>
          <a:lstStyle/>
          <a:p>
            <a:pPr algn="l"/>
            <a:r>
              <a:rPr lang="es-ES_tradnl" sz="9600" b="1" dirty="0">
                <a:solidFill>
                  <a:schemeClr val="bg1"/>
                </a:solidFill>
                <a:latin typeface="Arial" charset="0"/>
                <a:ea typeface="Arial" charset="0"/>
                <a:cs typeface="Arial" charset="0"/>
              </a:rPr>
              <a:t>METODOLOGÍA</a:t>
            </a:r>
            <a:endParaRPr lang="es-ES_tradnl" sz="9600" dirty="0">
              <a:solidFill>
                <a:schemeClr val="bg1"/>
              </a:solidFill>
              <a:latin typeface="Arial" charset="0"/>
              <a:ea typeface="Arial" charset="0"/>
              <a:cs typeface="Arial" charset="0"/>
            </a:endParaRPr>
          </a:p>
        </p:txBody>
      </p:sp>
    </p:spTree>
    <p:extLst>
      <p:ext uri="{BB962C8B-B14F-4D97-AF65-F5344CB8AC3E}">
        <p14:creationId xmlns:p14="http://schemas.microsoft.com/office/powerpoint/2010/main" val="975015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Gráfico 15">
            <a:extLst>
              <a:ext uri="{FF2B5EF4-FFF2-40B4-BE49-F238E27FC236}">
                <a16:creationId xmlns:a16="http://schemas.microsoft.com/office/drawing/2014/main" id="{5DCE1048-A57E-4642-AAED-0B0B8783C7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2725" y="4837726"/>
            <a:ext cx="4040548" cy="4040548"/>
          </a:xfrm>
          <a:prstGeom prst="rect">
            <a:avLst/>
          </a:prstGeom>
        </p:spPr>
      </p:pic>
      <p:cxnSp>
        <p:nvCxnSpPr>
          <p:cNvPr id="24" name="Straight Connector 23">
            <a:extLst>
              <a:ext uri="{FF2B5EF4-FFF2-40B4-BE49-F238E27FC236}">
                <a16:creationId xmlns:a16="http://schemas.microsoft.com/office/drawing/2014/main" id="{50DA1EB8-87CF-4588-A1FD-4756F9A28F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9740" y="3147774"/>
            <a:ext cx="0" cy="7420454"/>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9" name="Gráfico 18">
            <a:extLst>
              <a:ext uri="{FF2B5EF4-FFF2-40B4-BE49-F238E27FC236}">
                <a16:creationId xmlns:a16="http://schemas.microsoft.com/office/drawing/2014/main" id="{9C66945B-4CCA-48B2-B50E-1F7E67BE6A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0289" y="4837727"/>
            <a:ext cx="4040547" cy="4040547"/>
          </a:xfrm>
          <a:prstGeom prst="rect">
            <a:avLst/>
          </a:prstGeom>
        </p:spPr>
      </p:pic>
      <p:cxnSp>
        <p:nvCxnSpPr>
          <p:cNvPr id="26" name="Straight Connector 25">
            <a:extLst>
              <a:ext uri="{FF2B5EF4-FFF2-40B4-BE49-F238E27FC236}">
                <a16:creationId xmlns:a16="http://schemas.microsoft.com/office/drawing/2014/main" id="{D7A4E378-EA57-47B9-B1EB-58B998F6CF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44399" y="3147774"/>
            <a:ext cx="0" cy="7420454"/>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7" name="Gráfico 16">
            <a:extLst>
              <a:ext uri="{FF2B5EF4-FFF2-40B4-BE49-F238E27FC236}">
                <a16:creationId xmlns:a16="http://schemas.microsoft.com/office/drawing/2014/main" id="{621A7F5F-8183-4770-B21B-BE658697D42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008403" y="5241781"/>
            <a:ext cx="4040547" cy="3232437"/>
          </a:xfrm>
          <a:prstGeom prst="rect">
            <a:avLst/>
          </a:prstGeom>
        </p:spPr>
      </p:pic>
      <p:cxnSp>
        <p:nvCxnSpPr>
          <p:cNvPr id="28" name="Straight Connector 27">
            <a:extLst>
              <a:ext uri="{FF2B5EF4-FFF2-40B4-BE49-F238E27FC236}">
                <a16:creationId xmlns:a16="http://schemas.microsoft.com/office/drawing/2014/main" id="{D2B31ED6-76F0-425A-9A41-C947AEF9C1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912073" y="3147774"/>
            <a:ext cx="0" cy="7420454"/>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8" name="Gráfico 17">
            <a:extLst>
              <a:ext uri="{FF2B5EF4-FFF2-40B4-BE49-F238E27FC236}">
                <a16:creationId xmlns:a16="http://schemas.microsoft.com/office/drawing/2014/main" id="{D2FA633C-7256-4F6F-B628-265493DA389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038541" y="5241781"/>
            <a:ext cx="4040548" cy="3232438"/>
          </a:xfrm>
          <a:prstGeom prst="rect">
            <a:avLst/>
          </a:prstGeom>
        </p:spPr>
      </p:pic>
      <p:sp>
        <p:nvSpPr>
          <p:cNvPr id="25" name="CuadroTexto 24">
            <a:extLst>
              <a:ext uri="{FF2B5EF4-FFF2-40B4-BE49-F238E27FC236}">
                <a16:creationId xmlns:a16="http://schemas.microsoft.com/office/drawing/2014/main" id="{0A68B887-76B4-4E35-B334-31ADC5717CF7}"/>
              </a:ext>
            </a:extLst>
          </p:cNvPr>
          <p:cNvSpPr txBox="1"/>
          <p:nvPr/>
        </p:nvSpPr>
        <p:spPr>
          <a:xfrm>
            <a:off x="717405" y="2514224"/>
            <a:ext cx="5139102"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Investigación</a:t>
            </a:r>
            <a:endParaRPr lang="es-CO" sz="4800" dirty="0"/>
          </a:p>
        </p:txBody>
      </p:sp>
      <p:sp>
        <p:nvSpPr>
          <p:cNvPr id="27" name="CuadroTexto 26">
            <a:extLst>
              <a:ext uri="{FF2B5EF4-FFF2-40B4-BE49-F238E27FC236}">
                <a16:creationId xmlns:a16="http://schemas.microsoft.com/office/drawing/2014/main" id="{77257C31-2631-497B-9AD7-78726F7A70B9}"/>
              </a:ext>
            </a:extLst>
          </p:cNvPr>
          <p:cNvSpPr txBox="1"/>
          <p:nvPr/>
        </p:nvSpPr>
        <p:spPr>
          <a:xfrm>
            <a:off x="6691011" y="2514224"/>
            <a:ext cx="5139102"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Diseño</a:t>
            </a:r>
            <a:endParaRPr lang="es-CO" sz="4800" dirty="0"/>
          </a:p>
        </p:txBody>
      </p:sp>
      <p:sp>
        <p:nvSpPr>
          <p:cNvPr id="29" name="CuadroTexto 28">
            <a:extLst>
              <a:ext uri="{FF2B5EF4-FFF2-40B4-BE49-F238E27FC236}">
                <a16:creationId xmlns:a16="http://schemas.microsoft.com/office/drawing/2014/main" id="{62971537-257F-4DF4-AC56-5F12B808A309}"/>
              </a:ext>
            </a:extLst>
          </p:cNvPr>
          <p:cNvSpPr txBox="1"/>
          <p:nvPr/>
        </p:nvSpPr>
        <p:spPr>
          <a:xfrm>
            <a:off x="12458684" y="2514224"/>
            <a:ext cx="5139102"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Implementación</a:t>
            </a:r>
            <a:endParaRPr lang="es-CO" sz="4800" dirty="0"/>
          </a:p>
        </p:txBody>
      </p:sp>
      <p:sp>
        <p:nvSpPr>
          <p:cNvPr id="30" name="CuadroTexto 29">
            <a:extLst>
              <a:ext uri="{FF2B5EF4-FFF2-40B4-BE49-F238E27FC236}">
                <a16:creationId xmlns:a16="http://schemas.microsoft.com/office/drawing/2014/main" id="{F0738FDD-802A-4729-A0BA-8DE9EC38A3F1}"/>
              </a:ext>
            </a:extLst>
          </p:cNvPr>
          <p:cNvSpPr txBox="1"/>
          <p:nvPr/>
        </p:nvSpPr>
        <p:spPr>
          <a:xfrm>
            <a:off x="18489264" y="2514223"/>
            <a:ext cx="5139102"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Despliegue</a:t>
            </a:r>
            <a:endParaRPr lang="es-CO" sz="4800" dirty="0"/>
          </a:p>
        </p:txBody>
      </p:sp>
    </p:spTree>
    <p:extLst>
      <p:ext uri="{BB962C8B-B14F-4D97-AF65-F5344CB8AC3E}">
        <p14:creationId xmlns:p14="http://schemas.microsoft.com/office/powerpoint/2010/main" val="3639597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áfico 15">
            <a:extLst>
              <a:ext uri="{FF2B5EF4-FFF2-40B4-BE49-F238E27FC236}">
                <a16:creationId xmlns:a16="http://schemas.microsoft.com/office/drawing/2014/main" id="{5DCE1048-A57E-4642-AAED-0B0B8783C7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9456" y="4779591"/>
            <a:ext cx="5139102" cy="5139102"/>
          </a:xfrm>
          <a:prstGeom prst="rect">
            <a:avLst/>
          </a:prstGeom>
        </p:spPr>
      </p:pic>
      <p:sp>
        <p:nvSpPr>
          <p:cNvPr id="25" name="CuadroTexto 24">
            <a:extLst>
              <a:ext uri="{FF2B5EF4-FFF2-40B4-BE49-F238E27FC236}">
                <a16:creationId xmlns:a16="http://schemas.microsoft.com/office/drawing/2014/main" id="{0A68B887-76B4-4E35-B334-31ADC5717CF7}"/>
              </a:ext>
            </a:extLst>
          </p:cNvPr>
          <p:cNvSpPr txBox="1"/>
          <p:nvPr/>
        </p:nvSpPr>
        <p:spPr>
          <a:xfrm>
            <a:off x="1296204" y="2065119"/>
            <a:ext cx="5139102"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Investigación</a:t>
            </a:r>
            <a:endParaRPr lang="es-CO" sz="4800" dirty="0"/>
          </a:p>
        </p:txBody>
      </p:sp>
      <p:pic>
        <p:nvPicPr>
          <p:cNvPr id="1026" name="Picture 2" descr="Google Classroom - Wikipedia">
            <a:extLst>
              <a:ext uri="{FF2B5EF4-FFF2-40B4-BE49-F238E27FC236}">
                <a16:creationId xmlns:a16="http://schemas.microsoft.com/office/drawing/2014/main" id="{8F4F19DB-7373-4A3F-9DC5-6CFE66F156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83534" y="3476732"/>
            <a:ext cx="3018205" cy="26057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ctualización de seguridad de Moodle – Sophos News">
            <a:extLst>
              <a:ext uri="{FF2B5EF4-FFF2-40B4-BE49-F238E27FC236}">
                <a16:creationId xmlns:a16="http://schemas.microsoft.com/office/drawing/2014/main" id="{EB716926-9717-4347-A1C5-0C1BBD7CE8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54763" y="3906688"/>
            <a:ext cx="3508341" cy="183310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lataformas Virtuales: Canvas LMS">
            <a:extLst>
              <a:ext uri="{FF2B5EF4-FFF2-40B4-BE49-F238E27FC236}">
                <a16:creationId xmlns:a16="http://schemas.microsoft.com/office/drawing/2014/main" id="{8E5DA365-ABF9-4656-A0E4-0AC9F57D80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52366" y="3270488"/>
            <a:ext cx="3018205" cy="30182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F6D14665-FDD1-48EC-8796-507E9FFF00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43613" y="9023882"/>
            <a:ext cx="6008947" cy="71105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opcoder Topcoder: Evolution of a Brand | Topcoder">
            <a:extLst>
              <a:ext uri="{FF2B5EF4-FFF2-40B4-BE49-F238E27FC236}">
                <a16:creationId xmlns:a16="http://schemas.microsoft.com/office/drawing/2014/main" id="{D9FE4FAE-DED8-483A-8A83-AAC9F36ED5C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4795" r="25472"/>
          <a:stretch/>
        </p:blipFill>
        <p:spPr bwMode="auto">
          <a:xfrm>
            <a:off x="18407220" y="8261786"/>
            <a:ext cx="4706152" cy="218372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onector recto 2">
            <a:extLst>
              <a:ext uri="{FF2B5EF4-FFF2-40B4-BE49-F238E27FC236}">
                <a16:creationId xmlns:a16="http://schemas.microsoft.com/office/drawing/2014/main" id="{03A5C6F1-42C1-45E0-BF55-A8BFDCA40058}"/>
              </a:ext>
            </a:extLst>
          </p:cNvPr>
          <p:cNvCxnSpPr>
            <a:cxnSpLocks/>
          </p:cNvCxnSpPr>
          <p:nvPr/>
        </p:nvCxnSpPr>
        <p:spPr>
          <a:xfrm>
            <a:off x="7585070" y="2896116"/>
            <a:ext cx="0" cy="8313065"/>
          </a:xfrm>
          <a:prstGeom prst="line">
            <a:avLst/>
          </a:prstGeom>
          <a:ln w="28575">
            <a:solidFill>
              <a:srgbClr val="173657"/>
            </a:solidFill>
          </a:ln>
        </p:spPr>
        <p:style>
          <a:lnRef idx="1">
            <a:schemeClr val="accent1"/>
          </a:lnRef>
          <a:fillRef idx="0">
            <a:schemeClr val="accent1"/>
          </a:fillRef>
          <a:effectRef idx="0">
            <a:schemeClr val="accent1"/>
          </a:effectRef>
          <a:fontRef idx="minor">
            <a:schemeClr val="tx1"/>
          </a:fontRef>
        </p:style>
      </p:cxnSp>
      <p:pic>
        <p:nvPicPr>
          <p:cNvPr id="1042" name="Picture 18" descr="GeeksforGeeks | A computer science portal for geeks">
            <a:extLst>
              <a:ext uri="{FF2B5EF4-FFF2-40B4-BE49-F238E27FC236}">
                <a16:creationId xmlns:a16="http://schemas.microsoft.com/office/drawing/2014/main" id="{A289DE9C-55D1-4BBA-A6E7-9C3C4840AD5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144011" y="8261786"/>
            <a:ext cx="2670786" cy="2670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627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161F80E6-4288-401E-92BF-82651730A244}"/>
              </a:ext>
            </a:extLst>
          </p:cNvPr>
          <p:cNvPicPr>
            <a:picLocks noChangeAspect="1"/>
          </p:cNvPicPr>
          <p:nvPr/>
        </p:nvPicPr>
        <p:blipFill>
          <a:blip r:embed="rId3"/>
          <a:stretch>
            <a:fillRect/>
          </a:stretch>
        </p:blipFill>
        <p:spPr>
          <a:xfrm>
            <a:off x="8464094" y="8187402"/>
            <a:ext cx="8039122" cy="4510036"/>
          </a:xfrm>
          <a:prstGeom prst="round2DiagRect">
            <a:avLst>
              <a:gd name="adj1" fmla="val 8115"/>
              <a:gd name="adj2" fmla="val 0"/>
            </a:avLst>
          </a:prstGeom>
          <a:ln w="88900" cap="sq">
            <a:solidFill>
              <a:srgbClr val="FFFFFF"/>
            </a:solidFill>
            <a:miter lim="800000"/>
          </a:ln>
          <a:effectLst>
            <a:outerShdw blurRad="254000" algn="tl" rotWithShape="0">
              <a:srgbClr val="000000">
                <a:alpha val="43000"/>
              </a:srgbClr>
            </a:outerShdw>
          </a:effectLst>
        </p:spPr>
      </p:pic>
      <p:pic>
        <p:nvPicPr>
          <p:cNvPr id="16" name="Gráfico 15">
            <a:extLst>
              <a:ext uri="{FF2B5EF4-FFF2-40B4-BE49-F238E27FC236}">
                <a16:creationId xmlns:a16="http://schemas.microsoft.com/office/drawing/2014/main" id="{5DCE1048-A57E-4642-AAED-0B0B8783C76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719456" y="4779591"/>
            <a:ext cx="5139102" cy="5139102"/>
          </a:xfrm>
          <a:prstGeom prst="rect">
            <a:avLst/>
          </a:prstGeom>
        </p:spPr>
      </p:pic>
      <p:sp>
        <p:nvSpPr>
          <p:cNvPr id="25" name="CuadroTexto 24">
            <a:extLst>
              <a:ext uri="{FF2B5EF4-FFF2-40B4-BE49-F238E27FC236}">
                <a16:creationId xmlns:a16="http://schemas.microsoft.com/office/drawing/2014/main" id="{0A68B887-76B4-4E35-B334-31ADC5717CF7}"/>
              </a:ext>
            </a:extLst>
          </p:cNvPr>
          <p:cNvSpPr txBox="1"/>
          <p:nvPr/>
        </p:nvSpPr>
        <p:spPr>
          <a:xfrm>
            <a:off x="1296204" y="2065119"/>
            <a:ext cx="5139102"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Diseño</a:t>
            </a:r>
            <a:endParaRPr lang="es-CO" sz="4800" dirty="0"/>
          </a:p>
        </p:txBody>
      </p:sp>
      <p:cxnSp>
        <p:nvCxnSpPr>
          <p:cNvPr id="3" name="Conector recto 2">
            <a:extLst>
              <a:ext uri="{FF2B5EF4-FFF2-40B4-BE49-F238E27FC236}">
                <a16:creationId xmlns:a16="http://schemas.microsoft.com/office/drawing/2014/main" id="{03A5C6F1-42C1-45E0-BF55-A8BFDCA40058}"/>
              </a:ext>
            </a:extLst>
          </p:cNvPr>
          <p:cNvCxnSpPr>
            <a:cxnSpLocks/>
          </p:cNvCxnSpPr>
          <p:nvPr/>
        </p:nvCxnSpPr>
        <p:spPr>
          <a:xfrm>
            <a:off x="7585070" y="2896116"/>
            <a:ext cx="0" cy="8313065"/>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6B881F33-A207-4470-BFE0-8FE9F5798757}"/>
              </a:ext>
            </a:extLst>
          </p:cNvPr>
          <p:cNvPicPr>
            <a:picLocks noChangeAspect="1"/>
          </p:cNvPicPr>
          <p:nvPr/>
        </p:nvPicPr>
        <p:blipFill>
          <a:blip r:embed="rId6"/>
          <a:stretch>
            <a:fillRect/>
          </a:stretch>
        </p:blipFill>
        <p:spPr>
          <a:xfrm>
            <a:off x="8464092" y="2498202"/>
            <a:ext cx="8012693" cy="4510035"/>
          </a:xfrm>
          <a:prstGeom prst="round2DiagRect">
            <a:avLst>
              <a:gd name="adj1" fmla="val 8611"/>
              <a:gd name="adj2" fmla="val 0"/>
            </a:avLst>
          </a:prstGeom>
          <a:ln w="88900" cap="sq">
            <a:solidFill>
              <a:srgbClr val="FFFFFF"/>
            </a:solidFill>
            <a:miter lim="800000"/>
          </a:ln>
          <a:effectLst>
            <a:outerShdw blurRad="254000" algn="tl" rotWithShape="0">
              <a:srgbClr val="000000">
                <a:alpha val="43000"/>
              </a:srgbClr>
            </a:outerShdw>
          </a:effectLst>
        </p:spPr>
      </p:pic>
      <p:pic>
        <p:nvPicPr>
          <p:cNvPr id="4" name="Imagen 3">
            <a:extLst>
              <a:ext uri="{FF2B5EF4-FFF2-40B4-BE49-F238E27FC236}">
                <a16:creationId xmlns:a16="http://schemas.microsoft.com/office/drawing/2014/main" id="{2561152F-C339-46CD-820A-2F53D71E5123}"/>
              </a:ext>
            </a:extLst>
          </p:cNvPr>
          <p:cNvPicPr>
            <a:picLocks noChangeAspect="1"/>
          </p:cNvPicPr>
          <p:nvPr/>
        </p:nvPicPr>
        <p:blipFill>
          <a:blip r:embed="rId7"/>
          <a:stretch>
            <a:fillRect/>
          </a:stretch>
        </p:blipFill>
        <p:spPr>
          <a:xfrm>
            <a:off x="12819187" y="3907659"/>
            <a:ext cx="10512011" cy="5900681"/>
          </a:xfrm>
          <a:prstGeom prst="round2DiagRect">
            <a:avLst>
              <a:gd name="adj1" fmla="val 6595"/>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65813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A5286AF-8CFD-4574-941D-37D846157B06}"/>
              </a:ext>
            </a:extLst>
          </p:cNvPr>
          <p:cNvPicPr>
            <a:picLocks noChangeAspect="1"/>
          </p:cNvPicPr>
          <p:nvPr/>
        </p:nvPicPr>
        <p:blipFill>
          <a:blip r:embed="rId3"/>
          <a:stretch>
            <a:fillRect/>
          </a:stretch>
        </p:blipFill>
        <p:spPr>
          <a:xfrm>
            <a:off x="2477256" y="509954"/>
            <a:ext cx="19427899" cy="12696092"/>
          </a:xfrm>
          <a:prstGeom prst="rect">
            <a:avLst/>
          </a:prstGeom>
        </p:spPr>
      </p:pic>
    </p:spTree>
    <p:extLst>
      <p:ext uri="{BB962C8B-B14F-4D97-AF65-F5344CB8AC3E}">
        <p14:creationId xmlns:p14="http://schemas.microsoft.com/office/powerpoint/2010/main" val="159174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áfico 15">
            <a:extLst>
              <a:ext uri="{FF2B5EF4-FFF2-40B4-BE49-F238E27FC236}">
                <a16:creationId xmlns:a16="http://schemas.microsoft.com/office/drawing/2014/main" id="{5DCE1048-A57E-4642-AAED-0B0B8783C76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719456" y="5288653"/>
            <a:ext cx="5139102" cy="4120978"/>
          </a:xfrm>
          <a:prstGeom prst="rect">
            <a:avLst/>
          </a:prstGeom>
        </p:spPr>
      </p:pic>
      <p:sp>
        <p:nvSpPr>
          <p:cNvPr id="25" name="CuadroTexto 24">
            <a:extLst>
              <a:ext uri="{FF2B5EF4-FFF2-40B4-BE49-F238E27FC236}">
                <a16:creationId xmlns:a16="http://schemas.microsoft.com/office/drawing/2014/main" id="{0A68B887-76B4-4E35-B334-31ADC5717CF7}"/>
              </a:ext>
            </a:extLst>
          </p:cNvPr>
          <p:cNvSpPr txBox="1"/>
          <p:nvPr/>
        </p:nvSpPr>
        <p:spPr>
          <a:xfrm>
            <a:off x="1296204" y="2065119"/>
            <a:ext cx="5139102" cy="830997"/>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Implementación</a:t>
            </a:r>
            <a:endParaRPr lang="es-CO" sz="4800" dirty="0"/>
          </a:p>
        </p:txBody>
      </p:sp>
      <p:cxnSp>
        <p:nvCxnSpPr>
          <p:cNvPr id="3" name="Conector recto 2">
            <a:extLst>
              <a:ext uri="{FF2B5EF4-FFF2-40B4-BE49-F238E27FC236}">
                <a16:creationId xmlns:a16="http://schemas.microsoft.com/office/drawing/2014/main" id="{03A5C6F1-42C1-45E0-BF55-A8BFDCA40058}"/>
              </a:ext>
            </a:extLst>
          </p:cNvPr>
          <p:cNvCxnSpPr>
            <a:cxnSpLocks/>
          </p:cNvCxnSpPr>
          <p:nvPr/>
        </p:nvCxnSpPr>
        <p:spPr>
          <a:xfrm>
            <a:off x="7585070" y="2896116"/>
            <a:ext cx="0" cy="8313065"/>
          </a:xfrm>
          <a:prstGeom prst="line">
            <a:avLst/>
          </a:prstGeom>
          <a:ln w="28575">
            <a:solidFill>
              <a:srgbClr val="173557"/>
            </a:solidFill>
          </a:ln>
        </p:spPr>
        <p:style>
          <a:lnRef idx="1">
            <a:schemeClr val="accent1"/>
          </a:lnRef>
          <a:fillRef idx="0">
            <a:schemeClr val="accent1"/>
          </a:fillRef>
          <a:effectRef idx="0">
            <a:schemeClr val="accent1"/>
          </a:effectRef>
          <a:fontRef idx="minor">
            <a:schemeClr val="tx1"/>
          </a:fontRef>
        </p:style>
      </p:cxnSp>
      <p:pic>
        <p:nvPicPr>
          <p:cNvPr id="4102" name="Picture 6" descr="Spring boot + Spring JDBC – devs4j">
            <a:extLst>
              <a:ext uri="{FF2B5EF4-FFF2-40B4-BE49-F238E27FC236}">
                <a16:creationId xmlns:a16="http://schemas.microsoft.com/office/drawing/2014/main" id="{EC696DAF-E6F4-49D0-857C-DD13573E79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37417" y="5617413"/>
            <a:ext cx="4387115" cy="303109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mazon RDS for MySQL – Amazon Web Services (AWS)">
            <a:extLst>
              <a:ext uri="{FF2B5EF4-FFF2-40B4-BE49-F238E27FC236}">
                <a16:creationId xmlns:a16="http://schemas.microsoft.com/office/drawing/2014/main" id="{D7DB1CB5-1697-473B-8C10-A13EC6867B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77138" y="10059427"/>
            <a:ext cx="3770586" cy="195157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ngular (framework) - Wikipedia, la enciclopedia libre">
            <a:extLst>
              <a:ext uri="{FF2B5EF4-FFF2-40B4-BE49-F238E27FC236}">
                <a16:creationId xmlns:a16="http://schemas.microsoft.com/office/drawing/2014/main" id="{DC858C40-A744-499F-9254-A019A9BFB0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66568" y="1120678"/>
            <a:ext cx="3550875" cy="3550875"/>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Markdown - Wikipedia, la enciclopedia libre">
            <a:extLst>
              <a:ext uri="{FF2B5EF4-FFF2-40B4-BE49-F238E27FC236}">
                <a16:creationId xmlns:a16="http://schemas.microsoft.com/office/drawing/2014/main" id="{C7AAAD3F-48EC-4171-954E-B19FBAFC14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98803" y="1933600"/>
            <a:ext cx="1642153" cy="1009924"/>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Hibernate (@Hibernate) | Twitter">
            <a:extLst>
              <a:ext uri="{FF2B5EF4-FFF2-40B4-BE49-F238E27FC236}">
                <a16:creationId xmlns:a16="http://schemas.microsoft.com/office/drawing/2014/main" id="{01C57AD5-A921-41E6-9271-E5C1B5882C06}"/>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5256" t="16587" r="14860" b="13380"/>
          <a:stretch/>
        </p:blipFill>
        <p:spPr bwMode="auto">
          <a:xfrm>
            <a:off x="19677094" y="6128558"/>
            <a:ext cx="2004541" cy="2008808"/>
          </a:xfrm>
          <a:prstGeom prst="rect">
            <a:avLst/>
          </a:prstGeom>
          <a:noFill/>
          <a:extLst>
            <a:ext uri="{909E8E84-426E-40DD-AFC4-6F175D3DCCD1}">
              <a14:hiddenFill xmlns:a14="http://schemas.microsoft.com/office/drawing/2010/main">
                <a:solidFill>
                  <a:srgbClr val="FFFFFF"/>
                </a:solidFill>
              </a14:hiddenFill>
            </a:ext>
          </a:extLst>
        </p:spPr>
      </p:pic>
      <p:pic>
        <p:nvPicPr>
          <p:cNvPr id="4114" name="Picture 18">
            <a:extLst>
              <a:ext uri="{FF2B5EF4-FFF2-40B4-BE49-F238E27FC236}">
                <a16:creationId xmlns:a16="http://schemas.microsoft.com/office/drawing/2014/main" id="{F3DA9C93-D12A-490E-B37E-0304328584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98809" y="3297934"/>
            <a:ext cx="1870795" cy="779498"/>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a:extLst>
              <a:ext uri="{FF2B5EF4-FFF2-40B4-BE49-F238E27FC236}">
                <a16:creationId xmlns:a16="http://schemas.microsoft.com/office/drawing/2014/main" id="{1BF7D1AF-68EB-40EF-9C5E-CDB0224FD45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31687" y="5865562"/>
            <a:ext cx="2432048" cy="2432048"/>
          </a:xfrm>
          <a:prstGeom prst="rect">
            <a:avLst/>
          </a:prstGeom>
        </p:spPr>
      </p:pic>
      <p:pic>
        <p:nvPicPr>
          <p:cNvPr id="14" name="Gráfico 13">
            <a:extLst>
              <a:ext uri="{FF2B5EF4-FFF2-40B4-BE49-F238E27FC236}">
                <a16:creationId xmlns:a16="http://schemas.microsoft.com/office/drawing/2014/main" id="{41BEF7D4-CA9D-4A13-AE2D-24BCEFAE4E3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579684" y="2001740"/>
            <a:ext cx="2736054" cy="2432048"/>
          </a:xfrm>
          <a:prstGeom prst="rect">
            <a:avLst/>
          </a:prstGeom>
        </p:spPr>
      </p:pic>
      <p:pic>
        <p:nvPicPr>
          <p:cNvPr id="17" name="Gráfico 16">
            <a:extLst>
              <a:ext uri="{FF2B5EF4-FFF2-40B4-BE49-F238E27FC236}">
                <a16:creationId xmlns:a16="http://schemas.microsoft.com/office/drawing/2014/main" id="{68F1ECEE-FC1E-4836-87ED-4EAC16148AE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883690" y="9819189"/>
            <a:ext cx="2128042" cy="2432048"/>
          </a:xfrm>
          <a:prstGeom prst="rect">
            <a:avLst/>
          </a:prstGeom>
        </p:spPr>
      </p:pic>
      <p:cxnSp>
        <p:nvCxnSpPr>
          <p:cNvPr id="21" name="Conector recto 20">
            <a:extLst>
              <a:ext uri="{FF2B5EF4-FFF2-40B4-BE49-F238E27FC236}">
                <a16:creationId xmlns:a16="http://schemas.microsoft.com/office/drawing/2014/main" id="{D8398FD7-9E75-47BF-844A-ED9B547C8C7D}"/>
              </a:ext>
            </a:extLst>
          </p:cNvPr>
          <p:cNvCxnSpPr>
            <a:cxnSpLocks/>
          </p:cNvCxnSpPr>
          <p:nvPr/>
        </p:nvCxnSpPr>
        <p:spPr>
          <a:xfrm>
            <a:off x="9812215" y="5288653"/>
            <a:ext cx="11869420" cy="0"/>
          </a:xfrm>
          <a:prstGeom prst="line">
            <a:avLst/>
          </a:prstGeom>
          <a:ln w="28575">
            <a:solidFill>
              <a:srgbClr val="173557"/>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EE8FD758-6769-4D4D-9972-48807B76CE0B}"/>
              </a:ext>
            </a:extLst>
          </p:cNvPr>
          <p:cNvCxnSpPr>
            <a:cxnSpLocks/>
          </p:cNvCxnSpPr>
          <p:nvPr/>
        </p:nvCxnSpPr>
        <p:spPr>
          <a:xfrm>
            <a:off x="9812215" y="9409631"/>
            <a:ext cx="11869420" cy="0"/>
          </a:xfrm>
          <a:prstGeom prst="line">
            <a:avLst/>
          </a:prstGeom>
          <a:ln w="28575">
            <a:solidFill>
              <a:srgbClr val="17355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223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áfico 15">
            <a:extLst>
              <a:ext uri="{FF2B5EF4-FFF2-40B4-BE49-F238E27FC236}">
                <a16:creationId xmlns:a16="http://schemas.microsoft.com/office/drawing/2014/main" id="{5DCE1048-A57E-4642-AAED-0B0B8783C76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719456" y="5288653"/>
            <a:ext cx="5139101" cy="4120978"/>
          </a:xfrm>
          <a:prstGeom prst="rect">
            <a:avLst/>
          </a:prstGeom>
        </p:spPr>
      </p:pic>
      <p:sp>
        <p:nvSpPr>
          <p:cNvPr id="25" name="CuadroTexto 24">
            <a:extLst>
              <a:ext uri="{FF2B5EF4-FFF2-40B4-BE49-F238E27FC236}">
                <a16:creationId xmlns:a16="http://schemas.microsoft.com/office/drawing/2014/main" id="{0A68B887-76B4-4E35-B334-31ADC5717CF7}"/>
              </a:ext>
            </a:extLst>
          </p:cNvPr>
          <p:cNvSpPr txBox="1"/>
          <p:nvPr/>
        </p:nvSpPr>
        <p:spPr>
          <a:xfrm>
            <a:off x="1296204" y="2065119"/>
            <a:ext cx="5139102" cy="1569660"/>
          </a:xfrm>
          <a:prstGeom prst="rect">
            <a:avLst/>
          </a:prstGeom>
          <a:noFill/>
        </p:spPr>
        <p:txBody>
          <a:bodyPr wrap="square">
            <a:spAutoFit/>
          </a:bodyPr>
          <a:lstStyle/>
          <a:p>
            <a:pPr algn="ctr"/>
            <a:r>
              <a:rPr lang="es-CO" sz="4800" b="1" dirty="0">
                <a:solidFill>
                  <a:srgbClr val="173458"/>
                </a:solidFill>
                <a:latin typeface="Arial" panose="020B0604020202020204" pitchFamily="34" charset="0"/>
                <a:cs typeface="Arial" panose="020B0604020202020204" pitchFamily="34" charset="0"/>
              </a:rPr>
              <a:t>Pruebas y Despliegue</a:t>
            </a:r>
            <a:endParaRPr lang="es-CO" sz="4800" dirty="0"/>
          </a:p>
        </p:txBody>
      </p:sp>
      <p:cxnSp>
        <p:nvCxnSpPr>
          <p:cNvPr id="3" name="Conector recto 2">
            <a:extLst>
              <a:ext uri="{FF2B5EF4-FFF2-40B4-BE49-F238E27FC236}">
                <a16:creationId xmlns:a16="http://schemas.microsoft.com/office/drawing/2014/main" id="{03A5C6F1-42C1-45E0-BF55-A8BFDCA40058}"/>
              </a:ext>
            </a:extLst>
          </p:cNvPr>
          <p:cNvCxnSpPr>
            <a:cxnSpLocks/>
          </p:cNvCxnSpPr>
          <p:nvPr/>
        </p:nvCxnSpPr>
        <p:spPr>
          <a:xfrm>
            <a:off x="7585070" y="2896116"/>
            <a:ext cx="0" cy="8313065"/>
          </a:xfrm>
          <a:prstGeom prst="line">
            <a:avLst/>
          </a:prstGeom>
          <a:ln w="28575">
            <a:solidFill>
              <a:srgbClr val="2CACD9"/>
            </a:solidFill>
          </a:ln>
        </p:spPr>
        <p:style>
          <a:lnRef idx="1">
            <a:schemeClr val="accent1"/>
          </a:lnRef>
          <a:fillRef idx="0">
            <a:schemeClr val="accent1"/>
          </a:fillRef>
          <a:effectRef idx="0">
            <a:schemeClr val="accent1"/>
          </a:effectRef>
          <a:fontRef idx="minor">
            <a:schemeClr val="tx1"/>
          </a:fontRef>
        </p:style>
      </p:cxnSp>
      <p:pic>
        <p:nvPicPr>
          <p:cNvPr id="6146" name="Picture 2" descr="Postman Surpasses 10 Million Users as API Usage Booms | Business Wire">
            <a:extLst>
              <a:ext uri="{FF2B5EF4-FFF2-40B4-BE49-F238E27FC236}">
                <a16:creationId xmlns:a16="http://schemas.microsoft.com/office/drawing/2014/main" id="{F9EB5630-4A3D-4993-92BB-B5C10798169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335" r="22415"/>
          <a:stretch/>
        </p:blipFill>
        <p:spPr bwMode="auto">
          <a:xfrm>
            <a:off x="9294365" y="4614248"/>
            <a:ext cx="54864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asy step-by-step guide to deploying on Heroku - DEV Community">
            <a:extLst>
              <a:ext uri="{FF2B5EF4-FFF2-40B4-BE49-F238E27FC236}">
                <a16:creationId xmlns:a16="http://schemas.microsoft.com/office/drawing/2014/main" id="{360993BE-3BAC-405A-BD7C-EC586A207D0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5945" t="11323" r="16708" b="13823"/>
          <a:stretch/>
        </p:blipFill>
        <p:spPr bwMode="auto">
          <a:xfrm>
            <a:off x="17183546" y="6808732"/>
            <a:ext cx="3877799" cy="511817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A Deep Dive Into GitHub Actions. Learn about the architecture of… | by  Deborah Digges | Better Programming | Medium">
            <a:extLst>
              <a:ext uri="{FF2B5EF4-FFF2-40B4-BE49-F238E27FC236}">
                <a16:creationId xmlns:a16="http://schemas.microsoft.com/office/drawing/2014/main" id="{B36E6C44-A31A-4393-9596-4D7D0F3AA40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4261" r="22331"/>
          <a:stretch/>
        </p:blipFill>
        <p:spPr bwMode="auto">
          <a:xfrm>
            <a:off x="17059407" y="2586878"/>
            <a:ext cx="4126076" cy="4265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5645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2413" cy="13715107"/>
          </a:xfrm>
          <a:prstGeom prst="rect">
            <a:avLst/>
          </a:prstGeom>
        </p:spPr>
      </p:pic>
      <p:sp>
        <p:nvSpPr>
          <p:cNvPr id="2" name="Título 1"/>
          <p:cNvSpPr>
            <a:spLocks noGrp="1"/>
          </p:cNvSpPr>
          <p:nvPr>
            <p:ph type="ctrTitle"/>
          </p:nvPr>
        </p:nvSpPr>
        <p:spPr>
          <a:xfrm>
            <a:off x="10591603" y="6053563"/>
            <a:ext cx="11665725" cy="1607979"/>
          </a:xfrm>
        </p:spPr>
        <p:txBody>
          <a:bodyPr>
            <a:normAutofit/>
          </a:bodyPr>
          <a:lstStyle/>
          <a:p>
            <a:pPr algn="l"/>
            <a:r>
              <a:rPr lang="es-ES_tradnl" sz="9600" b="1" dirty="0">
                <a:solidFill>
                  <a:schemeClr val="bg1"/>
                </a:solidFill>
                <a:latin typeface="Arial" charset="0"/>
                <a:ea typeface="Arial" charset="0"/>
                <a:cs typeface="Arial" charset="0"/>
              </a:rPr>
              <a:t>APLICACIÓN</a:t>
            </a:r>
            <a:endParaRPr lang="es-ES_tradnl" sz="9600" dirty="0">
              <a:solidFill>
                <a:schemeClr val="bg1"/>
              </a:solidFill>
              <a:latin typeface="Arial" charset="0"/>
              <a:ea typeface="Arial" charset="0"/>
              <a:cs typeface="Arial" charset="0"/>
            </a:endParaRPr>
          </a:p>
        </p:txBody>
      </p:sp>
    </p:spTree>
    <p:extLst>
      <p:ext uri="{BB962C8B-B14F-4D97-AF65-F5344CB8AC3E}">
        <p14:creationId xmlns:p14="http://schemas.microsoft.com/office/powerpoint/2010/main" val="1631609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2413" cy="13715107"/>
          </a:xfrm>
          <a:prstGeom prst="rect">
            <a:avLst/>
          </a:prstGeom>
        </p:spPr>
      </p:pic>
      <p:sp>
        <p:nvSpPr>
          <p:cNvPr id="2" name="Título 1"/>
          <p:cNvSpPr>
            <a:spLocks noGrp="1"/>
          </p:cNvSpPr>
          <p:nvPr>
            <p:ph type="ctrTitle"/>
          </p:nvPr>
        </p:nvSpPr>
        <p:spPr>
          <a:xfrm>
            <a:off x="10591603" y="6053563"/>
            <a:ext cx="11665725" cy="1607979"/>
          </a:xfrm>
        </p:spPr>
        <p:txBody>
          <a:bodyPr>
            <a:normAutofit/>
          </a:bodyPr>
          <a:lstStyle/>
          <a:p>
            <a:pPr algn="l"/>
            <a:r>
              <a:rPr lang="es-ES_tradnl" sz="9600" b="1" dirty="0">
                <a:solidFill>
                  <a:schemeClr val="bg1"/>
                </a:solidFill>
                <a:latin typeface="Arial" charset="0"/>
                <a:ea typeface="Arial" charset="0"/>
                <a:cs typeface="Arial" charset="0"/>
              </a:rPr>
              <a:t>CONCLUSIONES</a:t>
            </a:r>
          </a:p>
        </p:txBody>
      </p:sp>
    </p:spTree>
    <p:extLst>
      <p:ext uri="{BB962C8B-B14F-4D97-AF65-F5344CB8AC3E}">
        <p14:creationId xmlns:p14="http://schemas.microsoft.com/office/powerpoint/2010/main" val="1266737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B24C6B6-8A3A-41C2-999A-83D0FF16CCE8}"/>
              </a:ext>
            </a:extLst>
          </p:cNvPr>
          <p:cNvSpPr>
            <a:spLocks noGrp="1"/>
          </p:cNvSpPr>
          <p:nvPr>
            <p:ph idx="1"/>
          </p:nvPr>
        </p:nvSpPr>
        <p:spPr>
          <a:xfrm>
            <a:off x="1676292" y="3651250"/>
            <a:ext cx="12935448" cy="8702676"/>
          </a:xfrm>
        </p:spPr>
        <p:txBody>
          <a:bodyPr/>
          <a:lstStyle/>
          <a:p>
            <a:r>
              <a:rPr lang="es-MX" dirty="0"/>
              <a:t>Se realizó una ardua investigación de los sistemas de gestión de aprendizaje más reconocidos junto con los que usa el Politécnico Grancolombiano, como de las herramientas usadas por las comunidades inspiradas por la programación competitiva, con el propósito de resaltar características de estas y adaptarlas al sistema.</a:t>
            </a:r>
            <a:endParaRPr lang="es-CO" dirty="0"/>
          </a:p>
        </p:txBody>
      </p:sp>
      <p:sp>
        <p:nvSpPr>
          <p:cNvPr id="6" name="CuadroTexto 5">
            <a:extLst>
              <a:ext uri="{FF2B5EF4-FFF2-40B4-BE49-F238E27FC236}">
                <a16:creationId xmlns:a16="http://schemas.microsoft.com/office/drawing/2014/main" id="{9CCE7BAB-B3CE-4FF4-B228-CAC0448F9A47}"/>
              </a:ext>
            </a:extLst>
          </p:cNvPr>
          <p:cNvSpPr txBox="1"/>
          <p:nvPr/>
        </p:nvSpPr>
        <p:spPr>
          <a:xfrm>
            <a:off x="1788572" y="1234122"/>
            <a:ext cx="6687213" cy="830997"/>
          </a:xfrm>
          <a:prstGeom prst="rect">
            <a:avLst/>
          </a:prstGeom>
          <a:noFill/>
        </p:spPr>
        <p:txBody>
          <a:bodyPr wrap="square">
            <a:spAutoFit/>
          </a:bodyPr>
          <a:lstStyle/>
          <a:p>
            <a:pPr algn="ctr"/>
            <a:r>
              <a:rPr lang="es-CO" sz="4800" b="1">
                <a:solidFill>
                  <a:srgbClr val="173458"/>
                </a:solidFill>
                <a:latin typeface="Arial" panose="020B0604020202020204" pitchFamily="34" charset="0"/>
                <a:cs typeface="Arial" panose="020B0604020202020204" pitchFamily="34" charset="0"/>
              </a:rPr>
              <a:t>Conclusión</a:t>
            </a:r>
            <a:endParaRPr lang="es-CO" sz="4800" dirty="0"/>
          </a:p>
        </p:txBody>
      </p:sp>
      <p:pic>
        <p:nvPicPr>
          <p:cNvPr id="7" name="Gráfico 6">
            <a:extLst>
              <a:ext uri="{FF2B5EF4-FFF2-40B4-BE49-F238E27FC236}">
                <a16:creationId xmlns:a16="http://schemas.microsoft.com/office/drawing/2014/main" id="{E6FB41F3-ED74-40CA-BC96-6E7FF9B962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99136" y="3479862"/>
            <a:ext cx="6756275" cy="6756275"/>
          </a:xfrm>
          <a:prstGeom prst="rect">
            <a:avLst/>
          </a:prstGeom>
        </p:spPr>
      </p:pic>
    </p:spTree>
    <p:extLst>
      <p:ext uri="{BB962C8B-B14F-4D97-AF65-F5344CB8AC3E}">
        <p14:creationId xmlns:p14="http://schemas.microsoft.com/office/powerpoint/2010/main" val="628094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B24C6B6-8A3A-41C2-999A-83D0FF16CCE8}"/>
              </a:ext>
            </a:extLst>
          </p:cNvPr>
          <p:cNvSpPr>
            <a:spLocks noGrp="1"/>
          </p:cNvSpPr>
          <p:nvPr>
            <p:ph idx="1"/>
          </p:nvPr>
        </p:nvSpPr>
        <p:spPr>
          <a:xfrm>
            <a:off x="1676292" y="3651250"/>
            <a:ext cx="12935448" cy="8702676"/>
          </a:xfrm>
        </p:spPr>
        <p:txBody>
          <a:bodyPr>
            <a:normAutofit fontScale="92500"/>
          </a:bodyPr>
          <a:lstStyle/>
          <a:p>
            <a:r>
              <a:rPr lang="es-MX" dirty="0"/>
              <a:t>Durante todo el proceso de búsqueda y planteamiento del proyecto, los conocimientos adquiridos del programa de Ingeniería de Sistemas, fueron fundamentales para la correcta ejecución del desarrollo de la solución propuesta. La implementación de la metodología de desarrollo Scrum fue de vital importancia para lograr una medición y ejecución de tiempos y facilitar la priorización de tareas de las necesidades del aplicativo, buscando siempre maximizar el valor del producto.</a:t>
            </a:r>
            <a:endParaRPr lang="es-CO" dirty="0"/>
          </a:p>
        </p:txBody>
      </p:sp>
      <p:sp>
        <p:nvSpPr>
          <p:cNvPr id="6" name="CuadroTexto 5">
            <a:extLst>
              <a:ext uri="{FF2B5EF4-FFF2-40B4-BE49-F238E27FC236}">
                <a16:creationId xmlns:a16="http://schemas.microsoft.com/office/drawing/2014/main" id="{9CCE7BAB-B3CE-4FF4-B228-CAC0448F9A47}"/>
              </a:ext>
            </a:extLst>
          </p:cNvPr>
          <p:cNvSpPr txBox="1"/>
          <p:nvPr/>
        </p:nvSpPr>
        <p:spPr>
          <a:xfrm>
            <a:off x="1788572" y="1234122"/>
            <a:ext cx="6687213" cy="830997"/>
          </a:xfrm>
          <a:prstGeom prst="rect">
            <a:avLst/>
          </a:prstGeom>
          <a:noFill/>
        </p:spPr>
        <p:txBody>
          <a:bodyPr wrap="square">
            <a:spAutoFit/>
          </a:bodyPr>
          <a:lstStyle/>
          <a:p>
            <a:pPr algn="ctr"/>
            <a:r>
              <a:rPr lang="es-CO" sz="4800" b="1">
                <a:solidFill>
                  <a:srgbClr val="173458"/>
                </a:solidFill>
                <a:latin typeface="Arial" panose="020B0604020202020204" pitchFamily="34" charset="0"/>
                <a:cs typeface="Arial" panose="020B0604020202020204" pitchFamily="34" charset="0"/>
              </a:rPr>
              <a:t>Conclusión</a:t>
            </a:r>
            <a:endParaRPr lang="es-CO" sz="4800" dirty="0"/>
          </a:p>
        </p:txBody>
      </p:sp>
      <p:pic>
        <p:nvPicPr>
          <p:cNvPr id="7" name="Gráfico 6">
            <a:extLst>
              <a:ext uri="{FF2B5EF4-FFF2-40B4-BE49-F238E27FC236}">
                <a16:creationId xmlns:a16="http://schemas.microsoft.com/office/drawing/2014/main" id="{E6FB41F3-ED74-40CA-BC96-6E7FF9B96228}"/>
              </a:ext>
            </a:extLst>
          </p:cNvPr>
          <p:cNvPicPr>
            <a:picLocks noChangeAspect="1"/>
          </p:cNvPicPr>
          <p:nvPr/>
        </p:nvPicPr>
        <p:blipFill>
          <a:blip r:embed="rId2"/>
          <a:srcRect/>
          <a:stretch/>
        </p:blipFill>
        <p:spPr>
          <a:xfrm>
            <a:off x="16099136" y="4711258"/>
            <a:ext cx="6756275" cy="4293483"/>
          </a:xfrm>
          <a:prstGeom prst="rect">
            <a:avLst/>
          </a:prstGeom>
        </p:spPr>
      </p:pic>
    </p:spTree>
    <p:extLst>
      <p:ext uri="{BB962C8B-B14F-4D97-AF65-F5344CB8AC3E}">
        <p14:creationId xmlns:p14="http://schemas.microsoft.com/office/powerpoint/2010/main" val="2715871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B24C6B6-8A3A-41C2-999A-83D0FF16CCE8}"/>
              </a:ext>
            </a:extLst>
          </p:cNvPr>
          <p:cNvSpPr>
            <a:spLocks noGrp="1"/>
          </p:cNvSpPr>
          <p:nvPr>
            <p:ph idx="1"/>
          </p:nvPr>
        </p:nvSpPr>
        <p:spPr>
          <a:xfrm>
            <a:off x="1676292" y="3651250"/>
            <a:ext cx="12935448" cy="8702676"/>
          </a:xfrm>
        </p:spPr>
        <p:txBody>
          <a:bodyPr>
            <a:normAutofit/>
          </a:bodyPr>
          <a:lstStyle/>
          <a:p>
            <a:r>
              <a:rPr lang="es-MX" dirty="0"/>
              <a:t>Gracias a que es un modelo de desarrollo por capas y haciendo uso del patrón de modelo vista controlador, se facilitó el trabajo en equipo ya que al estar bien definida la separación entre las capas de presentación, lógica del negocio y acceso de datos permite un desarrollo simultáneo de todo el sistema y reduce significativamente el riesgo de errores.</a:t>
            </a:r>
            <a:endParaRPr lang="es-CO" dirty="0"/>
          </a:p>
        </p:txBody>
      </p:sp>
      <p:sp>
        <p:nvSpPr>
          <p:cNvPr id="6" name="CuadroTexto 5">
            <a:extLst>
              <a:ext uri="{FF2B5EF4-FFF2-40B4-BE49-F238E27FC236}">
                <a16:creationId xmlns:a16="http://schemas.microsoft.com/office/drawing/2014/main" id="{9CCE7BAB-B3CE-4FF4-B228-CAC0448F9A47}"/>
              </a:ext>
            </a:extLst>
          </p:cNvPr>
          <p:cNvSpPr txBox="1"/>
          <p:nvPr/>
        </p:nvSpPr>
        <p:spPr>
          <a:xfrm>
            <a:off x="1788572" y="1234122"/>
            <a:ext cx="6687213" cy="830997"/>
          </a:xfrm>
          <a:prstGeom prst="rect">
            <a:avLst/>
          </a:prstGeom>
          <a:noFill/>
        </p:spPr>
        <p:txBody>
          <a:bodyPr wrap="square">
            <a:spAutoFit/>
          </a:bodyPr>
          <a:lstStyle/>
          <a:p>
            <a:pPr algn="ctr"/>
            <a:r>
              <a:rPr lang="es-CO" sz="4800" b="1">
                <a:solidFill>
                  <a:srgbClr val="173458"/>
                </a:solidFill>
                <a:latin typeface="Arial" panose="020B0604020202020204" pitchFamily="34" charset="0"/>
                <a:cs typeface="Arial" panose="020B0604020202020204" pitchFamily="34" charset="0"/>
              </a:rPr>
              <a:t>Conclusión</a:t>
            </a:r>
            <a:endParaRPr lang="es-CO" sz="4800" dirty="0"/>
          </a:p>
        </p:txBody>
      </p:sp>
      <p:pic>
        <p:nvPicPr>
          <p:cNvPr id="7" name="Gráfico 6">
            <a:extLst>
              <a:ext uri="{FF2B5EF4-FFF2-40B4-BE49-F238E27FC236}">
                <a16:creationId xmlns:a16="http://schemas.microsoft.com/office/drawing/2014/main" id="{E6FB41F3-ED74-40CA-BC96-6E7FF9B96228}"/>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41913" y="4352316"/>
            <a:ext cx="6264208" cy="5011367"/>
          </a:xfrm>
          <a:prstGeom prst="rect">
            <a:avLst/>
          </a:prstGeom>
        </p:spPr>
      </p:pic>
    </p:spTree>
    <p:extLst>
      <p:ext uri="{BB962C8B-B14F-4D97-AF65-F5344CB8AC3E}">
        <p14:creationId xmlns:p14="http://schemas.microsoft.com/office/powerpoint/2010/main" val="1619612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B24C6B6-8A3A-41C2-999A-83D0FF16CCE8}"/>
              </a:ext>
            </a:extLst>
          </p:cNvPr>
          <p:cNvSpPr>
            <a:spLocks noGrp="1"/>
          </p:cNvSpPr>
          <p:nvPr>
            <p:ph idx="1"/>
          </p:nvPr>
        </p:nvSpPr>
        <p:spPr>
          <a:xfrm>
            <a:off x="1676292" y="3651250"/>
            <a:ext cx="12935448" cy="8702676"/>
          </a:xfrm>
        </p:spPr>
        <p:txBody>
          <a:bodyPr>
            <a:normAutofit/>
          </a:bodyPr>
          <a:lstStyle/>
          <a:p>
            <a:r>
              <a:rPr lang="es-MX" dirty="0"/>
              <a:t>El uso de tecnologías modernas, como una versión actual de Angular y Spring </a:t>
            </a:r>
            <a:r>
              <a:rPr lang="es-MX" dirty="0" err="1"/>
              <a:t>Boot</a:t>
            </a:r>
            <a:r>
              <a:rPr lang="es-MX" dirty="0"/>
              <a:t>, asegura una flexibilidad del proyecto para el soporte de nuevas tecnologías, evitando que el sistema y sus componentes requieran grandes cambios debido a su obsolescencia.</a:t>
            </a:r>
            <a:endParaRPr lang="es-CO" dirty="0"/>
          </a:p>
        </p:txBody>
      </p:sp>
      <p:sp>
        <p:nvSpPr>
          <p:cNvPr id="6" name="CuadroTexto 5">
            <a:extLst>
              <a:ext uri="{FF2B5EF4-FFF2-40B4-BE49-F238E27FC236}">
                <a16:creationId xmlns:a16="http://schemas.microsoft.com/office/drawing/2014/main" id="{9CCE7BAB-B3CE-4FF4-B228-CAC0448F9A47}"/>
              </a:ext>
            </a:extLst>
          </p:cNvPr>
          <p:cNvSpPr txBox="1"/>
          <p:nvPr/>
        </p:nvSpPr>
        <p:spPr>
          <a:xfrm>
            <a:off x="1788572" y="1234122"/>
            <a:ext cx="6687213" cy="830997"/>
          </a:xfrm>
          <a:prstGeom prst="rect">
            <a:avLst/>
          </a:prstGeom>
          <a:noFill/>
        </p:spPr>
        <p:txBody>
          <a:bodyPr wrap="square">
            <a:spAutoFit/>
          </a:bodyPr>
          <a:lstStyle/>
          <a:p>
            <a:pPr algn="ctr"/>
            <a:r>
              <a:rPr lang="es-CO" sz="4800" b="1">
                <a:solidFill>
                  <a:srgbClr val="173458"/>
                </a:solidFill>
                <a:latin typeface="Arial" panose="020B0604020202020204" pitchFamily="34" charset="0"/>
                <a:cs typeface="Arial" panose="020B0604020202020204" pitchFamily="34" charset="0"/>
              </a:rPr>
              <a:t>Conclusión</a:t>
            </a:r>
            <a:endParaRPr lang="es-CO" sz="4800" dirty="0"/>
          </a:p>
        </p:txBody>
      </p:sp>
      <p:pic>
        <p:nvPicPr>
          <p:cNvPr id="14" name="Gráfico 13">
            <a:extLst>
              <a:ext uri="{FF2B5EF4-FFF2-40B4-BE49-F238E27FC236}">
                <a16:creationId xmlns:a16="http://schemas.microsoft.com/office/drawing/2014/main" id="{23353682-F4EE-4584-ABE7-51532AAA35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486104" y="2657373"/>
            <a:ext cx="3473255" cy="3969434"/>
          </a:xfrm>
          <a:prstGeom prst="rect">
            <a:avLst/>
          </a:prstGeom>
        </p:spPr>
      </p:pic>
      <p:pic>
        <p:nvPicPr>
          <p:cNvPr id="15" name="Gráfico 14">
            <a:extLst>
              <a:ext uri="{FF2B5EF4-FFF2-40B4-BE49-F238E27FC236}">
                <a16:creationId xmlns:a16="http://schemas.microsoft.com/office/drawing/2014/main" id="{7AD32E2E-2057-43C2-8CA1-65C2426322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988753" y="4375066"/>
            <a:ext cx="3569804" cy="3173159"/>
          </a:xfrm>
          <a:prstGeom prst="rect">
            <a:avLst/>
          </a:prstGeom>
        </p:spPr>
      </p:pic>
      <p:pic>
        <p:nvPicPr>
          <p:cNvPr id="16" name="Gráfico 15">
            <a:extLst>
              <a:ext uri="{FF2B5EF4-FFF2-40B4-BE49-F238E27FC236}">
                <a16:creationId xmlns:a16="http://schemas.microsoft.com/office/drawing/2014/main" id="{877F644B-3D18-4C9C-8273-81E2BD98F92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638503" y="4798023"/>
            <a:ext cx="6096000" cy="4876800"/>
          </a:xfrm>
          <a:prstGeom prst="rect">
            <a:avLst/>
          </a:prstGeom>
        </p:spPr>
      </p:pic>
    </p:spTree>
    <p:extLst>
      <p:ext uri="{BB962C8B-B14F-4D97-AF65-F5344CB8AC3E}">
        <p14:creationId xmlns:p14="http://schemas.microsoft.com/office/powerpoint/2010/main" val="1256804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B24C6B6-8A3A-41C2-999A-83D0FF16CCE8}"/>
              </a:ext>
            </a:extLst>
          </p:cNvPr>
          <p:cNvSpPr>
            <a:spLocks noGrp="1"/>
          </p:cNvSpPr>
          <p:nvPr>
            <p:ph idx="1"/>
          </p:nvPr>
        </p:nvSpPr>
        <p:spPr>
          <a:xfrm>
            <a:off x="1676292" y="3651250"/>
            <a:ext cx="12935448" cy="8702676"/>
          </a:xfrm>
        </p:spPr>
        <p:txBody>
          <a:bodyPr>
            <a:normAutofit/>
          </a:bodyPr>
          <a:lstStyle/>
          <a:p>
            <a:r>
              <a:rPr lang="es-MX" dirty="0"/>
              <a:t>Este proyecto tiene como fin servir como un prototipo que busca incentivar el desarrollo de una plataforma más grande que se pueda adaptar a distintos entornos diferentes a los de programación, e incluso ingeniería, y que se pueda escalar para soportar el volumen de usuarios de la universidad incluso ser capaz de expandirse a otras instituciones ajenas al Politécnico Grancolombiano </a:t>
            </a:r>
            <a:endParaRPr lang="es-CO" dirty="0"/>
          </a:p>
        </p:txBody>
      </p:sp>
      <p:sp>
        <p:nvSpPr>
          <p:cNvPr id="6" name="CuadroTexto 5">
            <a:extLst>
              <a:ext uri="{FF2B5EF4-FFF2-40B4-BE49-F238E27FC236}">
                <a16:creationId xmlns:a16="http://schemas.microsoft.com/office/drawing/2014/main" id="{9CCE7BAB-B3CE-4FF4-B228-CAC0448F9A47}"/>
              </a:ext>
            </a:extLst>
          </p:cNvPr>
          <p:cNvSpPr txBox="1"/>
          <p:nvPr/>
        </p:nvSpPr>
        <p:spPr>
          <a:xfrm>
            <a:off x="1788572" y="1234122"/>
            <a:ext cx="6687213" cy="830997"/>
          </a:xfrm>
          <a:prstGeom prst="rect">
            <a:avLst/>
          </a:prstGeom>
          <a:noFill/>
        </p:spPr>
        <p:txBody>
          <a:bodyPr wrap="square">
            <a:spAutoFit/>
          </a:bodyPr>
          <a:lstStyle/>
          <a:p>
            <a:pPr algn="ctr"/>
            <a:r>
              <a:rPr lang="es-CO" sz="4800" b="1">
                <a:solidFill>
                  <a:srgbClr val="173458"/>
                </a:solidFill>
                <a:latin typeface="Arial" panose="020B0604020202020204" pitchFamily="34" charset="0"/>
                <a:cs typeface="Arial" panose="020B0604020202020204" pitchFamily="34" charset="0"/>
              </a:rPr>
              <a:t>Conclusión</a:t>
            </a:r>
            <a:endParaRPr lang="es-CO" sz="4800" dirty="0"/>
          </a:p>
        </p:txBody>
      </p:sp>
      <p:pic>
        <p:nvPicPr>
          <p:cNvPr id="10" name="Gráfico 9">
            <a:extLst>
              <a:ext uri="{FF2B5EF4-FFF2-40B4-BE49-F238E27FC236}">
                <a16:creationId xmlns:a16="http://schemas.microsoft.com/office/drawing/2014/main" id="{19DEFF72-312D-49B5-81A6-ADD2E7BF7670}"/>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664474" y="4270310"/>
            <a:ext cx="5575117" cy="6371562"/>
          </a:xfrm>
          <a:prstGeom prst="rect">
            <a:avLst/>
          </a:prstGeom>
        </p:spPr>
      </p:pic>
    </p:spTree>
    <p:extLst>
      <p:ext uri="{BB962C8B-B14F-4D97-AF65-F5344CB8AC3E}">
        <p14:creationId xmlns:p14="http://schemas.microsoft.com/office/powerpoint/2010/main" val="1422325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2413" cy="13715107"/>
          </a:xfrm>
          <a:prstGeom prst="rect">
            <a:avLst/>
          </a:prstGeom>
        </p:spPr>
      </p:pic>
      <p:sp>
        <p:nvSpPr>
          <p:cNvPr id="2" name="Título 1"/>
          <p:cNvSpPr>
            <a:spLocks noGrp="1"/>
          </p:cNvSpPr>
          <p:nvPr>
            <p:ph type="ctrTitle"/>
          </p:nvPr>
        </p:nvSpPr>
        <p:spPr>
          <a:xfrm>
            <a:off x="10591603" y="5865994"/>
            <a:ext cx="11665725" cy="2738745"/>
          </a:xfrm>
        </p:spPr>
        <p:txBody>
          <a:bodyPr>
            <a:normAutofit/>
          </a:bodyPr>
          <a:lstStyle/>
          <a:p>
            <a:pPr algn="l"/>
            <a:r>
              <a:rPr lang="es-ES_tradnl" sz="13800" b="1" dirty="0">
                <a:solidFill>
                  <a:schemeClr val="bg1"/>
                </a:solidFill>
                <a:latin typeface="Arial" charset="0"/>
                <a:ea typeface="Arial" charset="0"/>
                <a:cs typeface="Arial" charset="0"/>
              </a:rPr>
              <a:t>GRACIAS</a:t>
            </a:r>
            <a:br>
              <a:rPr lang="es-ES_tradnl" sz="9600" b="1" dirty="0">
                <a:solidFill>
                  <a:schemeClr val="bg1"/>
                </a:solidFill>
                <a:latin typeface="Arial" charset="0"/>
                <a:ea typeface="Arial" charset="0"/>
                <a:cs typeface="Arial" charset="0"/>
              </a:rPr>
            </a:br>
            <a:r>
              <a:rPr lang="es-ES_tradnl" sz="5400" b="1" dirty="0">
                <a:solidFill>
                  <a:schemeClr val="bg1"/>
                </a:solidFill>
                <a:latin typeface="Arial" charset="0"/>
                <a:ea typeface="Arial" charset="0"/>
                <a:cs typeface="Arial" charset="0"/>
              </a:rPr>
              <a:t>¿Preguntas?</a:t>
            </a:r>
            <a:endParaRPr lang="es-ES_tradnl" sz="9600" dirty="0">
              <a:solidFill>
                <a:schemeClr val="bg1"/>
              </a:solidFill>
              <a:latin typeface="Arial" charset="0"/>
              <a:ea typeface="Arial" charset="0"/>
              <a:cs typeface="Arial" charset="0"/>
            </a:endParaRPr>
          </a:p>
        </p:txBody>
      </p:sp>
    </p:spTree>
    <p:extLst>
      <p:ext uri="{BB962C8B-B14F-4D97-AF65-F5344CB8AC3E}">
        <p14:creationId xmlns:p14="http://schemas.microsoft.com/office/powerpoint/2010/main" val="289173027"/>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TotalTime>
  <Words>773</Words>
  <Application>Microsoft Office PowerPoint</Application>
  <PresentationFormat>Personalizado</PresentationFormat>
  <Paragraphs>80</Paragraphs>
  <Slides>23</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Calibri</vt:lpstr>
      <vt:lpstr>Calibri Light</vt:lpstr>
      <vt:lpstr>Tema de Office</vt:lpstr>
      <vt:lpstr>Presentación de PowerPoint</vt:lpstr>
      <vt:lpstr>Presentación de PowerPoint</vt:lpstr>
      <vt:lpstr>PROBLEMÁTICA</vt:lpstr>
      <vt:lpstr>Presentación de PowerPoint</vt:lpstr>
      <vt:lpstr>OBJETIVO</vt:lpstr>
      <vt:lpstr>Presentación de PowerPoint</vt:lpstr>
      <vt:lpstr>Presentación de PowerPoint</vt:lpstr>
      <vt:lpstr>Presentación de PowerPoint</vt:lpstr>
      <vt:lpstr>METODOLOGÍA</vt:lpstr>
      <vt:lpstr>Presentación de PowerPoint</vt:lpstr>
      <vt:lpstr>Presentación de PowerPoint</vt:lpstr>
      <vt:lpstr>Presentación de PowerPoint</vt:lpstr>
      <vt:lpstr>Presentación de PowerPoint</vt:lpstr>
      <vt:lpstr>Presentación de PowerPoint</vt:lpstr>
      <vt:lpstr>Presentación de PowerPoint</vt:lpstr>
      <vt:lpstr>APLICACIÓN</vt:lpstr>
      <vt:lpstr>CONCLUSIONES</vt:lpstr>
      <vt:lpstr>Presentación de PowerPoint</vt:lpstr>
      <vt:lpstr>Presentación de PowerPoint</vt:lpstr>
      <vt:lpstr>Presentación de PowerPoint</vt:lpstr>
      <vt:lpstr>Presentación de PowerPoint</vt:lpstr>
      <vt:lpstr>Presentación de PowerPoint</vt:lpstr>
      <vt:lpstr>GRACIAS ¿Preguntas?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Andrés Osorio</dc:creator>
  <cp:lastModifiedBy>Andrés Osorio</cp:lastModifiedBy>
  <cp:revision>13</cp:revision>
  <dcterms:created xsi:type="dcterms:W3CDTF">2021-01-20T03:17:55Z</dcterms:created>
  <dcterms:modified xsi:type="dcterms:W3CDTF">2021-01-21T19:51:28Z</dcterms:modified>
</cp:coreProperties>
</file>